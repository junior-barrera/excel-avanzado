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F06C11-6239-4768-B653-D3D0121F2C31}">
  <a:tblStyle styleId="{8DF06C11-6239-4768-B653-D3D0121F2C3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316aad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a316aad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316aade8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a316aade8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a316aade8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a316aade8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a316aade8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a316aade8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316aade8_3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a316aade8_3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a316aade8_3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a316aade8_3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a316aade8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a316aade8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a316aade8_3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a316aade8_3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a316aade8_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a316aade8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Listas Desplegables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Excel Avanzado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¿QUÉ ES UNA LISTA DESPLEGABLE?</a:t>
            </a:r>
            <a:endParaRPr b="1" sz="20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26">
                <a:solidFill>
                  <a:schemeClr val="dk1"/>
                </a:solidFill>
              </a:rPr>
              <a:t>Una lista desplegable permite que el usuario </a:t>
            </a:r>
            <a:r>
              <a:rPr lang="es-419" sz="2726">
                <a:solidFill>
                  <a:schemeClr val="dk1"/>
                </a:solidFill>
              </a:rPr>
              <a:t>seleccione un valor desde un conjunto de opciones predefinidas</a:t>
            </a:r>
            <a:r>
              <a:rPr lang="es-419" sz="2826">
                <a:solidFill>
                  <a:schemeClr val="dk1"/>
                </a:solidFill>
              </a:rPr>
              <a:t>, en lugar de escribirlo manualmente.</a:t>
            </a:r>
            <a:endParaRPr sz="292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921"/>
              <a:buFont typeface="Arial"/>
              <a:buNone/>
            </a:pPr>
            <a:r>
              <a:rPr lang="es-419" sz="2826">
                <a:solidFill>
                  <a:schemeClr val="dk1"/>
                </a:solidFill>
              </a:rPr>
              <a:t>Al hacer clic en 🔽 aparecen opciones como:</a:t>
            </a:r>
            <a:endParaRPr sz="2826">
              <a:solidFill>
                <a:schemeClr val="dk1"/>
              </a:solidFill>
            </a:endParaRPr>
          </a:p>
          <a:p>
            <a:pPr indent="-3497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6462"/>
              <a:buChar char="●"/>
            </a:pPr>
            <a:r>
              <a:rPr lang="es-419" sz="2826">
                <a:solidFill>
                  <a:schemeClr val="dk1"/>
                </a:solidFill>
              </a:rPr>
              <a:t>Arica</a:t>
            </a:r>
            <a:endParaRPr sz="2826">
              <a:solidFill>
                <a:schemeClr val="dk1"/>
              </a:solidFill>
            </a:endParaRPr>
          </a:p>
          <a:p>
            <a:pPr indent="-3497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6462"/>
              <a:buChar char="●"/>
            </a:pPr>
            <a:r>
              <a:rPr lang="es-419" sz="2826">
                <a:solidFill>
                  <a:schemeClr val="dk1"/>
                </a:solidFill>
              </a:rPr>
              <a:t>Iquique</a:t>
            </a:r>
            <a:endParaRPr sz="2826">
              <a:solidFill>
                <a:schemeClr val="dk1"/>
              </a:solidFill>
            </a:endParaRPr>
          </a:p>
          <a:p>
            <a:pPr indent="-3497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6462"/>
              <a:buChar char="●"/>
            </a:pPr>
            <a:r>
              <a:rPr lang="es-419" sz="2826">
                <a:solidFill>
                  <a:schemeClr val="dk1"/>
                </a:solidFill>
              </a:rPr>
              <a:t>Antofagasta</a:t>
            </a:r>
            <a:endParaRPr sz="2826">
              <a:solidFill>
                <a:schemeClr val="dk1"/>
              </a:solidFill>
            </a:endParaRPr>
          </a:p>
          <a:p>
            <a:pPr indent="-3497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6462"/>
              <a:buChar char="●"/>
            </a:pPr>
            <a:r>
              <a:rPr lang="es-419" sz="2826">
                <a:solidFill>
                  <a:schemeClr val="dk1"/>
                </a:solidFill>
              </a:rPr>
              <a:t>Santiago</a:t>
            </a:r>
            <a:endParaRPr sz="282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62" name="Google Shape;62;p14"/>
          <p:cNvGraphicFramePr/>
          <p:nvPr/>
        </p:nvGraphicFramePr>
        <p:xfrm>
          <a:off x="5236825" y="328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{8DF06C11-6239-4768-B653-D3D0121F2C31}</a:tableStyleId>
              </a:tblPr>
              <a:tblGrid>
                <a:gridCol w="1132125"/>
                <a:gridCol w="2030000"/>
              </a:tblGrid>
              <a:tr h="222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Nombre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Ciudad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Juan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🔽 Arica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María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🔽 Iquique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Pedro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🔽 Antofagasta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Cómo crear una lista desplegable en Excel" id="63" name="Google Shape;63;p14"/>
          <p:cNvPicPr preferRelativeResize="0"/>
          <p:nvPr/>
        </p:nvPicPr>
        <p:blipFill rotWithShape="1">
          <a:blip r:embed="rId3">
            <a:alphaModFix/>
          </a:blip>
          <a:srcRect b="22100" l="0" r="15569" t="0"/>
          <a:stretch/>
        </p:blipFill>
        <p:spPr>
          <a:xfrm>
            <a:off x="5157575" y="268875"/>
            <a:ext cx="3736376" cy="28438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¿PARA QUÉ SIRVEN?</a:t>
            </a:r>
            <a:endParaRPr b="1" sz="20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Las listas desplegables sirven principalmente para: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✅ Evitar errores de escritura</a:t>
            </a:r>
            <a:br>
              <a:rPr lang="es-419">
                <a:solidFill>
                  <a:schemeClr val="dk1"/>
                </a:solidFill>
              </a:rPr>
            </a:br>
            <a:r>
              <a:rPr lang="es-419">
                <a:solidFill>
                  <a:schemeClr val="dk1"/>
                </a:solidFill>
              </a:rPr>
              <a:t>✅ Estandarizar información</a:t>
            </a:r>
            <a:br>
              <a:rPr lang="es-419">
                <a:solidFill>
                  <a:schemeClr val="dk1"/>
                </a:solidFill>
              </a:rPr>
            </a:br>
            <a:r>
              <a:rPr lang="es-419">
                <a:solidFill>
                  <a:schemeClr val="dk1"/>
                </a:solidFill>
              </a:rPr>
              <a:t>✅ Facilitar el ingreso de datos</a:t>
            </a:r>
            <a:br>
              <a:rPr lang="es-419">
                <a:solidFill>
                  <a:schemeClr val="dk1"/>
                </a:solidFill>
              </a:rPr>
            </a:br>
            <a:r>
              <a:rPr lang="es-419">
                <a:solidFill>
                  <a:schemeClr val="dk1"/>
                </a:solidFill>
              </a:rPr>
              <a:t>✅ Evitar valores incorrectos</a:t>
            </a:r>
            <a:br>
              <a:rPr lang="es-419">
                <a:solidFill>
                  <a:schemeClr val="dk1"/>
                </a:solidFill>
              </a:rPr>
            </a:br>
            <a:r>
              <a:rPr lang="es-419">
                <a:solidFill>
                  <a:schemeClr val="dk1"/>
                </a:solidFill>
              </a:rPr>
              <a:t>✅ Crear formularios más fáciles de utilizar</a:t>
            </a:r>
            <a:br>
              <a:rPr lang="es-419">
                <a:solidFill>
                  <a:schemeClr val="dk1"/>
                </a:solidFill>
              </a:rPr>
            </a:br>
            <a:r>
              <a:rPr lang="es-419">
                <a:solidFill>
                  <a:schemeClr val="dk1"/>
                </a:solidFill>
              </a:rPr>
              <a:t>✅ Mejorar bases de datos</a:t>
            </a:r>
            <a:br>
              <a:rPr lang="es-419">
                <a:solidFill>
                  <a:schemeClr val="dk1"/>
                </a:solidFill>
              </a:rPr>
            </a:br>
            <a:r>
              <a:rPr lang="es-419">
                <a:solidFill>
                  <a:schemeClr val="dk1"/>
                </a:solidFill>
              </a:rPr>
              <a:t>✅ Facilitar filtros y análisis posteriores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8475" y="1856475"/>
            <a:ext cx="3012550" cy="176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¿POR QUÉ SE CREARON?</a:t>
            </a:r>
            <a:endParaRPr b="1" sz="20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584"/>
              <a:buFont typeface="Arial"/>
              <a:buNone/>
            </a:pPr>
            <a:r>
              <a:rPr lang="es-419" sz="3376">
                <a:solidFill>
                  <a:schemeClr val="dk1"/>
                </a:solidFill>
              </a:rPr>
              <a:t>Imagina que tenemos una base de datos de funcionarios.</a:t>
            </a:r>
            <a:endParaRPr sz="337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584"/>
              <a:buFont typeface="Arial"/>
              <a:buNone/>
            </a:pPr>
            <a:r>
              <a:rPr lang="es-419" sz="3376">
                <a:solidFill>
                  <a:schemeClr val="dk1"/>
                </a:solidFill>
              </a:rPr>
              <a:t>Una persona escribe: Arica</a:t>
            </a:r>
            <a:endParaRPr sz="337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584"/>
              <a:buFont typeface="Arial"/>
              <a:buNone/>
            </a:pPr>
            <a:r>
              <a:rPr lang="es-419" sz="3376">
                <a:solidFill>
                  <a:schemeClr val="dk1"/>
                </a:solidFill>
              </a:rPr>
              <a:t>Otra: arica</a:t>
            </a:r>
            <a:endParaRPr sz="337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584"/>
              <a:buFont typeface="Arial"/>
              <a:buNone/>
            </a:pPr>
            <a:r>
              <a:rPr lang="es-419" sz="3376">
                <a:solidFill>
                  <a:schemeClr val="dk1"/>
                </a:solidFill>
              </a:rPr>
              <a:t>Otra: ARICA</a:t>
            </a:r>
            <a:endParaRPr sz="337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584"/>
              <a:buFont typeface="Arial"/>
              <a:buNone/>
            </a:pPr>
            <a:r>
              <a:rPr lang="es-419" sz="3376">
                <a:solidFill>
                  <a:schemeClr val="dk1"/>
                </a:solidFill>
              </a:rPr>
              <a:t>Otra: Arika ❌</a:t>
            </a:r>
            <a:endParaRPr sz="337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584"/>
              <a:buFont typeface="Arial"/>
              <a:buNone/>
            </a:pPr>
            <a:r>
              <a:rPr lang="es-419" sz="3376">
                <a:solidFill>
                  <a:schemeClr val="dk1"/>
                </a:solidFill>
              </a:rPr>
              <a:t>Para Excel pueden ser valores diferentes.</a:t>
            </a:r>
            <a:endParaRPr sz="337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584"/>
              <a:buFont typeface="Arial"/>
              <a:buNone/>
            </a:pPr>
            <a:r>
              <a:rPr lang="es-419" sz="3376">
                <a:solidFill>
                  <a:schemeClr val="dk1"/>
                </a:solidFill>
              </a:rPr>
              <a:t>Con una lista desplegable obligamos al usuario a seleccionar:</a:t>
            </a:r>
            <a:endParaRPr sz="337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584"/>
              <a:buFont typeface="Arial"/>
              <a:buNone/>
            </a:pPr>
            <a:r>
              <a:rPr b="1" lang="es-419" sz="3376">
                <a:solidFill>
                  <a:schemeClr val="dk1"/>
                </a:solidFill>
              </a:rPr>
              <a:t>Arica</a:t>
            </a:r>
            <a:endParaRPr b="1" sz="337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584"/>
              <a:buFont typeface="Arial"/>
              <a:buNone/>
            </a:pPr>
            <a:r>
              <a:rPr lang="es-419" sz="3376">
                <a:solidFill>
                  <a:schemeClr val="dk1"/>
                </a:solidFill>
              </a:rPr>
              <a:t>Así conseguimos que todos los registros tengan el mismo formato.</a:t>
            </a:r>
            <a:endParaRPr sz="337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9588" y="1190625"/>
            <a:ext cx="3057525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PROBLEMA SIN LISTA DESPLEGABLE</a:t>
            </a:r>
            <a:endParaRPr b="1" sz="200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Tenemos problemas 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🔴 Errores de escritura</a:t>
            </a:r>
            <a:br>
              <a:rPr lang="es-419"/>
            </a:br>
            <a:r>
              <a:rPr lang="es-419"/>
              <a:t>🔴 Mayúsculas/minúsculas</a:t>
            </a:r>
            <a:br>
              <a:rPr lang="es-419"/>
            </a:br>
            <a:r>
              <a:rPr lang="es-419"/>
              <a:t>🔴 Espacios</a:t>
            </a:r>
            <a:br>
              <a:rPr lang="es-419"/>
            </a:br>
            <a:r>
              <a:rPr lang="es-419"/>
              <a:t>🔴 Nombres diferentes</a:t>
            </a:r>
            <a:br>
              <a:rPr lang="es-419"/>
            </a:br>
            <a:r>
              <a:rPr lang="es-419"/>
              <a:t>🔴 Datos difíciles de analizar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4" name="Google Shape;84;p17"/>
          <p:cNvGraphicFramePr/>
          <p:nvPr/>
        </p:nvGraphicFramePr>
        <p:xfrm>
          <a:off x="5809925" y="81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{8DF06C11-6239-4768-B653-D3D0121F2C31}</a:tableStyleId>
              </a:tblPr>
              <a:tblGrid>
                <a:gridCol w="1364900"/>
                <a:gridCol w="16029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Funcionario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Departamento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Juan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Finanzas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Pedro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finanzas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María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Finanzas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Ana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Finanzas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Luis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FinanzasS ❌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¿CÓMO SE CREA UNA LISTA DESPLEGABLE EN EXCEL?</a:t>
            </a:r>
            <a:endParaRPr b="1" sz="2000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425" y="1017725"/>
            <a:ext cx="6177099" cy="343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0599" y="1292200"/>
            <a:ext cx="1838325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VALIDACIÓN DE DATOS</a:t>
            </a:r>
            <a:endParaRPr b="1" sz="2000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La </a:t>
            </a:r>
            <a:r>
              <a:rPr b="1" lang="es-419" sz="1100">
                <a:solidFill>
                  <a:schemeClr val="dk1"/>
                </a:solidFill>
              </a:rPr>
              <a:t>validación de datos</a:t>
            </a:r>
            <a:r>
              <a:rPr lang="es-419" sz="1100">
                <a:solidFill>
                  <a:schemeClr val="dk1"/>
                </a:solidFill>
              </a:rPr>
              <a:t> permite establecer reglas para controlar </a:t>
            </a:r>
            <a:r>
              <a:rPr b="1" lang="es-419" sz="1100">
                <a:solidFill>
                  <a:schemeClr val="dk1"/>
                </a:solidFill>
              </a:rPr>
              <a:t>qué información puede ingresar el usuario</a:t>
            </a:r>
            <a:r>
              <a:rPr lang="es-419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En Excel podemos decir:</a:t>
            </a:r>
            <a:endParaRPr sz="11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🔽 "Solo puedes seleccionar una ciudad de esta lista."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100">
                <a:solidFill>
                  <a:schemeClr val="dk1"/>
                </a:solidFill>
              </a:rPr>
              <a:t>Ejemplo: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100">
                <a:solidFill>
                  <a:schemeClr val="dk1"/>
                </a:solidFill>
              </a:rPr>
              <a:t>Ciudad:</a:t>
            </a:r>
            <a:r>
              <a:rPr lang="es-419" sz="1100">
                <a:solidFill>
                  <a:schemeClr val="dk1"/>
                </a:solidFill>
              </a:rPr>
              <a:t> 🔽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Arica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Iquique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Antofagasta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Santiago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👉 Excel limita las opciones disponibles.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3775" y="1673400"/>
            <a:ext cx="3324775" cy="308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ESTANDARIZACIÓN DE DATOS</a:t>
            </a:r>
            <a:endParaRPr b="1" sz="2000"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924775"/>
            <a:ext cx="5598000" cy="43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¿Qué es la estandarización?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La estandarización de datos consiste en establecer un mismo criterio para registrar y representar la información.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🎯 Objetivo: que un mismo dato sea registrado siempre de la misma manera.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Ejemplo: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❌ Sin estandarizar: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Arica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arica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ARICA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arika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ARICA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✅ Estandarizado: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Arica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Arica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Arica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Arica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>
                <a:solidFill>
                  <a:schemeClr val="dk1"/>
                </a:solidFill>
              </a:rPr>
              <a:t>Arica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6050" y="1690175"/>
            <a:ext cx="3458650" cy="321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NORMALIZACIÓN DE DATOS</a:t>
            </a:r>
            <a:endParaRPr b="1" sz="2000"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27645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¿Qué es la normalización?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La normalización de datos </a:t>
            </a:r>
            <a:r>
              <a:rPr lang="es-419" sz="1100">
                <a:solidFill>
                  <a:schemeClr val="dk1"/>
                </a:solidFill>
              </a:rPr>
              <a:t>c</a:t>
            </a:r>
            <a:r>
              <a:rPr lang="es-419" sz="1100">
                <a:solidFill>
                  <a:schemeClr val="dk1"/>
                </a:solidFill>
              </a:rPr>
              <a:t>onsiste en organizar la información de manera estructurada para reducir la repetición innecesaria de datos y facilitar las relaciones entre la información.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Objetivo principal: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Tener una estructura de datos más organizada, consistente y fácil de mantener.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2925" y="2800750"/>
            <a:ext cx="5469375" cy="228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/>
        </p:nvSpPr>
        <p:spPr>
          <a:xfrm>
            <a:off x="5184600" y="1599225"/>
            <a:ext cx="36477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419" sz="1200">
                <a:solidFill>
                  <a:schemeClr val="dk1"/>
                </a:solidFill>
              </a:rPr>
              <a:t>Normalización: Busca organizar los datos centrándose en cómo se estructura la información. Su objetivo es reducir la redundancia y mejorar la estructura (por ejemplo, separar "Funcionarios" y "Departamentos" en distintas tablas) utilizando tablas, IDs y relaciones.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786550" y="1599225"/>
            <a:ext cx="35028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419" sz="1200">
                <a:solidFill>
                  <a:schemeClr val="dk1"/>
                </a:solidFill>
              </a:rPr>
              <a:t>Estandarización: Busca uniformar los datos centrándose en cómo se representa la información. Su objetivo es la consistencia (por ejemplo, corregir variaciones de texto como "Arica / arica" a un solo formato "Arica") utilizando herramientas como validaciones o listas.</a:t>
            </a:r>
            <a:endParaRPr/>
          </a:p>
        </p:txBody>
      </p:sp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COMPARACIÓN</a:t>
            </a:r>
            <a:r>
              <a:rPr b="1" lang="es-419" sz="2000"/>
              <a:t> ENTRE ESTANDARIZACION Y NORMALIZACION</a:t>
            </a:r>
            <a:endParaRPr b="1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