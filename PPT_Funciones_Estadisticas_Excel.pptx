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81" r:id="rId6"/>
    <p:sldId id="260" r:id="rId7"/>
    <p:sldId id="261" r:id="rId8"/>
    <p:sldId id="262" r:id="rId9"/>
    <p:sldId id="263" r:id="rId10"/>
    <p:sldId id="264" r:id="rId11"/>
    <p:sldId id="265" r:id="rId12"/>
    <p:sldId id="268" r:id="rId13"/>
    <p:sldId id="270" r:id="rId14"/>
    <p:sldId id="271" r:id="rId15"/>
    <p:sldId id="272" r:id="rId16"/>
    <p:sldId id="273" r:id="rId17"/>
    <p:sldId id="274" r:id="rId18"/>
    <p:sldId id="275" r:id="rId19"/>
    <p:sldId id="276" r:id="rId20"/>
    <p:sldId id="28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bing.com/ck/a?!&amp;&amp;p=2c5f9ae0836aae67374fcb45dc40a92a23461164a237417c61e7af731be0be0dJmltdHM9MTc4ODMwNzIwMA&amp;ptn=3&amp;ver=2&amp;hsh=4&amp;fclid=0d0a0b6f-a3b6-667a-3954-1da4a2ca67c1&amp;u=a1aHR0cHM6Ly93d3cucHJvYmFiaWxpZGFkeWVzdGFkaXN0aWNhLm5ldC92YXJpYW56YS1tdWVzdHJhbC8&amp;ntb=1"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3981" y="2026118"/>
            <a:ext cx="7387728" cy="769441"/>
          </a:xfrm>
          <a:prstGeom prst="rect">
            <a:avLst/>
          </a:prstGeom>
          <a:noFill/>
        </p:spPr>
        <p:txBody>
          <a:bodyPr wrap="none">
            <a:spAutoFit/>
          </a:bodyPr>
          <a:lstStyle/>
          <a:p>
            <a:pPr>
              <a:defRPr sz="2800" b="1"/>
            </a:pPr>
            <a:r>
              <a:rPr sz="4400" dirty="0" err="1"/>
              <a:t>Funciones</a:t>
            </a:r>
            <a:r>
              <a:rPr sz="4400" dirty="0"/>
              <a:t> </a:t>
            </a:r>
            <a:r>
              <a:rPr sz="4400" dirty="0" err="1"/>
              <a:t>estadísticas</a:t>
            </a:r>
            <a:r>
              <a:rPr sz="4400" dirty="0"/>
              <a:t> </a:t>
            </a:r>
            <a:r>
              <a:rPr sz="4400" dirty="0" err="1"/>
              <a:t>en</a:t>
            </a:r>
            <a:r>
              <a:rPr sz="4400" dirty="0"/>
              <a:t> Excel</a:t>
            </a:r>
          </a:p>
        </p:txBody>
      </p:sp>
      <p:sp>
        <p:nvSpPr>
          <p:cNvPr id="3" name="TextBox 2"/>
          <p:cNvSpPr txBox="1"/>
          <p:nvPr/>
        </p:nvSpPr>
        <p:spPr>
          <a:xfrm>
            <a:off x="3110564" y="3702519"/>
            <a:ext cx="10789920" cy="502920"/>
          </a:xfrm>
          <a:prstGeom prst="rect">
            <a:avLst/>
          </a:prstGeom>
          <a:noFill/>
        </p:spPr>
        <p:txBody>
          <a:bodyPr wrap="none">
            <a:spAutoFit/>
          </a:bodyPr>
          <a:lstStyle/>
          <a:p>
            <a:pPr>
              <a:defRPr sz="1500"/>
            </a:pPr>
            <a:r>
              <a:rPr dirty="0"/>
              <a:t>Guía </a:t>
            </a:r>
            <a:r>
              <a:rPr dirty="0" err="1"/>
              <a:t>teórica</a:t>
            </a:r>
            <a:r>
              <a:rPr dirty="0"/>
              <a:t> + </a:t>
            </a:r>
            <a:r>
              <a:rPr dirty="0" err="1"/>
              <a:t>aplicación</a:t>
            </a:r>
            <a:r>
              <a:rPr dirty="0"/>
              <a:t> </a:t>
            </a:r>
            <a:r>
              <a:rPr dirty="0" err="1"/>
              <a:t>práctica</a:t>
            </a:r>
            <a:r>
              <a:rPr dirty="0"/>
              <a:t> con </a:t>
            </a:r>
            <a:r>
              <a:rPr dirty="0" err="1"/>
              <a:t>una</a:t>
            </a:r>
            <a:r>
              <a:rPr dirty="0"/>
              <a:t> base de </a:t>
            </a:r>
            <a:r>
              <a:rPr dirty="0" err="1"/>
              <a:t>datos</a:t>
            </a:r>
            <a:r>
              <a:rPr dirty="0"/>
              <a:t> de </a:t>
            </a:r>
            <a:r>
              <a:rPr dirty="0" err="1"/>
              <a:t>ventas</a:t>
            </a:r>
            <a:endParaRPr dirty="0"/>
          </a:p>
        </p:txBody>
      </p:sp>
      <p:sp>
        <p:nvSpPr>
          <p:cNvPr id="4" name="TextBox 3"/>
          <p:cNvSpPr txBox="1"/>
          <p:nvPr/>
        </p:nvSpPr>
        <p:spPr>
          <a:xfrm>
            <a:off x="4153301" y="5374907"/>
            <a:ext cx="7857920" cy="805349"/>
          </a:xfrm>
          <a:prstGeom prst="rect">
            <a:avLst/>
          </a:prstGeom>
          <a:noFill/>
        </p:spPr>
        <p:txBody>
          <a:bodyPr wrap="none">
            <a:spAutoFit/>
          </a:bodyPr>
          <a:lstStyle/>
          <a:p>
            <a:pPr>
              <a:spcAft>
                <a:spcPts val="1000"/>
              </a:spcAft>
              <a:defRPr sz="1900"/>
            </a:pPr>
            <a:r>
              <a:rPr dirty="0" err="1"/>
              <a:t>Objetivo</a:t>
            </a:r>
            <a:r>
              <a:rPr dirty="0"/>
              <a:t>: </a:t>
            </a:r>
            <a:r>
              <a:rPr dirty="0" err="1"/>
              <a:t>analizar</a:t>
            </a:r>
            <a:r>
              <a:rPr dirty="0"/>
              <a:t> </a:t>
            </a:r>
            <a:r>
              <a:rPr dirty="0" err="1"/>
              <a:t>datos</a:t>
            </a:r>
            <a:r>
              <a:rPr dirty="0"/>
              <a:t> y </a:t>
            </a:r>
            <a:r>
              <a:rPr dirty="0" err="1"/>
              <a:t>obtener</a:t>
            </a:r>
            <a:r>
              <a:rPr dirty="0"/>
              <a:t> </a:t>
            </a:r>
            <a:r>
              <a:rPr dirty="0" err="1"/>
              <a:t>conclusiones</a:t>
            </a:r>
            <a:r>
              <a:rPr dirty="0"/>
              <a:t> </a:t>
            </a:r>
            <a:r>
              <a:rPr dirty="0" err="1"/>
              <a:t>rápidamente</a:t>
            </a:r>
            <a:r>
              <a:rPr dirty="0"/>
              <a:t>.</a:t>
            </a:r>
          </a:p>
          <a:p>
            <a:pPr>
              <a:spcAft>
                <a:spcPts val="1000"/>
              </a:spcAft>
              <a:defRPr sz="1900"/>
            </a:pPr>
            <a:r>
              <a:rPr dirty="0" err="1"/>
              <a:t>Trabajaremos</a:t>
            </a:r>
            <a:r>
              <a:rPr dirty="0"/>
              <a:t> con </a:t>
            </a:r>
            <a:r>
              <a:rPr dirty="0" err="1"/>
              <a:t>ventas</a:t>
            </a:r>
            <a:r>
              <a:rPr dirty="0"/>
              <a:t>, </a:t>
            </a:r>
            <a:r>
              <a:rPr dirty="0" err="1"/>
              <a:t>cantidades</a:t>
            </a:r>
            <a:r>
              <a:rPr dirty="0"/>
              <a:t>, </a:t>
            </a:r>
            <a:r>
              <a:rPr dirty="0" err="1"/>
              <a:t>clientes</a:t>
            </a:r>
            <a:r>
              <a:rPr dirty="0"/>
              <a:t>, </a:t>
            </a:r>
            <a:r>
              <a:rPr dirty="0" err="1"/>
              <a:t>ciudades</a:t>
            </a:r>
            <a:r>
              <a:rPr dirty="0"/>
              <a:t>, </a:t>
            </a:r>
            <a:r>
              <a:rPr dirty="0" err="1"/>
              <a:t>categorías</a:t>
            </a:r>
            <a:r>
              <a:rPr dirty="0"/>
              <a:t> y </a:t>
            </a:r>
            <a:r>
              <a:rPr dirty="0" err="1"/>
              <a:t>estados</a:t>
            </a:r>
            <a:r>
              <a:rPr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¿Qué son las funciones estadísticas?</a:t>
            </a:r>
          </a:p>
        </p:txBody>
      </p:sp>
      <p:sp>
        <p:nvSpPr>
          <p:cNvPr id="3" name="TextBox 2"/>
          <p:cNvSpPr txBox="1"/>
          <p:nvPr/>
        </p:nvSpPr>
        <p:spPr>
          <a:xfrm>
            <a:off x="701040" y="1428549"/>
            <a:ext cx="10789920" cy="502920"/>
          </a:xfrm>
          <a:prstGeom prst="rect">
            <a:avLst/>
          </a:prstGeom>
          <a:noFill/>
        </p:spPr>
        <p:txBody>
          <a:bodyPr wrap="none">
            <a:spAutoFit/>
          </a:bodyPr>
          <a:lstStyle/>
          <a:p>
            <a:pPr>
              <a:defRPr sz="1500"/>
            </a:pPr>
            <a:r>
              <a:t>Herramientas para resumir, contar y analizar conjuntos de datos.</a:t>
            </a:r>
          </a:p>
        </p:txBody>
      </p:sp>
      <p:sp>
        <p:nvSpPr>
          <p:cNvPr id="4" name="TextBox 3"/>
          <p:cNvSpPr txBox="1"/>
          <p:nvPr/>
        </p:nvSpPr>
        <p:spPr>
          <a:xfrm>
            <a:off x="594360" y="2222473"/>
            <a:ext cx="10740120" cy="4247317"/>
          </a:xfrm>
          <a:prstGeom prst="rect">
            <a:avLst/>
          </a:prstGeom>
          <a:noFill/>
        </p:spPr>
        <p:txBody>
          <a:bodyPr wrap="none">
            <a:spAutoFit/>
          </a:bodyPr>
          <a:lstStyle/>
          <a:p>
            <a:r>
              <a:rPr lang="es-CL" dirty="0"/>
              <a:t>Las funciones estadísticas de Excel permiten </a:t>
            </a:r>
            <a:r>
              <a:rPr lang="es-CL" b="1" dirty="0"/>
              <a:t>analizar conjuntos de datos numéricos</a:t>
            </a:r>
            <a:r>
              <a:rPr lang="es-CL" dirty="0"/>
              <a:t>.</a:t>
            </a:r>
          </a:p>
          <a:p>
            <a:r>
              <a:rPr lang="es-CL" dirty="0"/>
              <a:t>En lugar de revisar manualmente cientos o miles de registros, Excel puede realizar los cálculos automáticamente.</a:t>
            </a:r>
          </a:p>
          <a:p>
            <a:endParaRPr lang="es-CL" b="1" dirty="0"/>
          </a:p>
          <a:p>
            <a:r>
              <a:rPr lang="es-CL" b="1" dirty="0"/>
              <a:t>Por ejemplo:</a:t>
            </a:r>
          </a:p>
          <a:p>
            <a:r>
              <a:rPr lang="es-CL" dirty="0"/>
              <a:t>Tenemos las edades:</a:t>
            </a:r>
          </a:p>
          <a:p>
            <a:endParaRPr lang="es-CL" b="1" dirty="0"/>
          </a:p>
          <a:p>
            <a:r>
              <a:rPr lang="es-CL" b="1" dirty="0"/>
              <a:t>20 | 25 | 30 | 35 | 40</a:t>
            </a:r>
            <a:endParaRPr lang="es-CL" dirty="0"/>
          </a:p>
          <a:p>
            <a:endParaRPr lang="es-CL" dirty="0"/>
          </a:p>
          <a:p>
            <a:r>
              <a:rPr lang="es-CL" dirty="0"/>
              <a:t>Podemos preguntarnos:</a:t>
            </a:r>
          </a:p>
          <a:p>
            <a:pPr lvl="0"/>
            <a:r>
              <a:rPr lang="es-CL" dirty="0"/>
              <a:t>¿Cuál es la edad promedio? </a:t>
            </a:r>
          </a:p>
          <a:p>
            <a:pPr lvl="0"/>
            <a:r>
              <a:rPr lang="es-CL" dirty="0"/>
              <a:t>¿Cuál es la edad central? </a:t>
            </a:r>
          </a:p>
          <a:p>
            <a:pPr lvl="0"/>
            <a:r>
              <a:rPr lang="es-CL" dirty="0"/>
              <a:t>¿Cuál es la edad máxima? </a:t>
            </a:r>
          </a:p>
          <a:p>
            <a:pPr lvl="0"/>
            <a:r>
              <a:rPr lang="es-CL" dirty="0"/>
              <a:t>¿Cuál es la edad mínima? </a:t>
            </a:r>
          </a:p>
          <a:p>
            <a:pPr lvl="0"/>
            <a:r>
              <a:rPr lang="es-CL" dirty="0"/>
              <a:t>¿Cuántas personas tenemos? </a:t>
            </a:r>
          </a:p>
          <a:p>
            <a:r>
              <a:rPr lang="es-CL" dirty="0"/>
              <a:t>Excel puede responder cada pregunta mediante una función.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1. PROMEDIO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Calcula la media aritmética de un conjunto de números.</a:t>
            </a:r>
          </a:p>
        </p:txBody>
      </p:sp>
      <p:sp>
        <p:nvSpPr>
          <p:cNvPr id="4" name="TextBox 3"/>
          <p:cNvSpPr txBox="1"/>
          <p:nvPr/>
        </p:nvSpPr>
        <p:spPr>
          <a:xfrm>
            <a:off x="272716" y="1479082"/>
            <a:ext cx="11646568" cy="5545108"/>
          </a:xfrm>
          <a:prstGeom prst="rect">
            <a:avLst/>
          </a:prstGeom>
          <a:noFill/>
        </p:spPr>
        <p:txBody>
          <a:bodyPr wrap="square">
            <a:spAutoFit/>
          </a:bodyPr>
          <a:lstStyle/>
          <a:p>
            <a:pPr>
              <a:spcAft>
                <a:spcPts val="1000"/>
              </a:spcAft>
              <a:defRPr sz="1900"/>
            </a:pPr>
            <a:r>
              <a:rPr dirty="0"/>
              <a:t>Suma </a:t>
            </a:r>
            <a:r>
              <a:rPr dirty="0" err="1"/>
              <a:t>todos</a:t>
            </a:r>
            <a:r>
              <a:rPr dirty="0"/>
              <a:t> </a:t>
            </a:r>
            <a:r>
              <a:rPr dirty="0" err="1"/>
              <a:t>los</a:t>
            </a:r>
            <a:r>
              <a:rPr dirty="0"/>
              <a:t> </a:t>
            </a:r>
            <a:r>
              <a:rPr dirty="0" err="1"/>
              <a:t>valores</a:t>
            </a:r>
            <a:r>
              <a:rPr dirty="0"/>
              <a:t> y </a:t>
            </a:r>
            <a:r>
              <a:rPr dirty="0" err="1"/>
              <a:t>los</a:t>
            </a:r>
            <a:r>
              <a:rPr dirty="0"/>
              <a:t> divide </a:t>
            </a:r>
            <a:r>
              <a:rPr dirty="0" err="1"/>
              <a:t>por</a:t>
            </a:r>
            <a:r>
              <a:rPr dirty="0"/>
              <a:t> la </a:t>
            </a:r>
            <a:r>
              <a:rPr dirty="0" err="1"/>
              <a:t>cantidad</a:t>
            </a:r>
            <a:r>
              <a:rPr dirty="0"/>
              <a:t> de </a:t>
            </a:r>
            <a:r>
              <a:rPr dirty="0" err="1"/>
              <a:t>valores</a:t>
            </a:r>
            <a:r>
              <a:rPr lang="es-CL" dirty="0"/>
              <a:t> (media aritmética)</a:t>
            </a:r>
            <a:r>
              <a:rPr dirty="0"/>
              <a:t>.</a:t>
            </a:r>
            <a:r>
              <a:rPr lang="es-CL" dirty="0"/>
              <a:t> </a:t>
            </a:r>
            <a:r>
              <a:rPr dirty="0" err="1"/>
              <a:t>Útil</a:t>
            </a:r>
            <a:r>
              <a:rPr dirty="0"/>
              <a:t> para </a:t>
            </a:r>
            <a:r>
              <a:rPr dirty="0" err="1"/>
              <a:t>conocer</a:t>
            </a:r>
            <a:r>
              <a:rPr dirty="0"/>
              <a:t> el </a:t>
            </a:r>
            <a:r>
              <a:rPr dirty="0" err="1"/>
              <a:t>comportamiento</a:t>
            </a:r>
            <a:r>
              <a:rPr dirty="0"/>
              <a:t> </a:t>
            </a:r>
            <a:r>
              <a:rPr dirty="0" err="1"/>
              <a:t>promedio</a:t>
            </a:r>
            <a:r>
              <a:rPr dirty="0"/>
              <a:t> de las </a:t>
            </a:r>
            <a:r>
              <a:rPr dirty="0" err="1"/>
              <a:t>ventas</a:t>
            </a:r>
            <a:r>
              <a:rPr dirty="0"/>
              <a:t>.</a:t>
            </a:r>
            <a:r>
              <a:rPr lang="es-CL" dirty="0"/>
              <a:t> El promedio puede verse afectado por </a:t>
            </a:r>
            <a:r>
              <a:rPr lang="es-CL" b="1" dirty="0"/>
              <a:t>valores </a:t>
            </a:r>
            <a:r>
              <a:rPr lang="es-CL" b="1" dirty="0" err="1"/>
              <a:t>extremos</a:t>
            </a:r>
            <a:r>
              <a:rPr lang="es-CL" dirty="0" err="1"/>
              <a:t>.Por</a:t>
            </a:r>
            <a:r>
              <a:rPr lang="es-CL" dirty="0"/>
              <a:t> eso también es importante conocer la </a:t>
            </a:r>
            <a:r>
              <a:rPr lang="es-CL" b="1" dirty="0"/>
              <a:t>mediana</a:t>
            </a:r>
            <a:r>
              <a:rPr lang="es-CL" dirty="0"/>
              <a:t>.</a:t>
            </a:r>
          </a:p>
          <a:p>
            <a:endParaRPr lang="es-CL" dirty="0"/>
          </a:p>
          <a:p>
            <a:r>
              <a:rPr lang="es-CL" dirty="0"/>
              <a:t>Tenemos:</a:t>
            </a:r>
          </a:p>
          <a:p>
            <a:r>
              <a:rPr lang="es-CL" b="1" dirty="0"/>
              <a:t>25 + 34 + 29 + 41 + 36 = 165</a:t>
            </a:r>
            <a:endParaRPr lang="es-CL" dirty="0"/>
          </a:p>
          <a:p>
            <a:r>
              <a:rPr lang="es-CL" dirty="0"/>
              <a:t>Luego:</a:t>
            </a:r>
          </a:p>
          <a:p>
            <a:r>
              <a:rPr lang="es-CL" b="1" dirty="0"/>
              <a:t>165 / 5 = 33</a:t>
            </a:r>
            <a:endParaRPr lang="es-CL" dirty="0"/>
          </a:p>
          <a:p>
            <a:r>
              <a:rPr lang="es-CL" b="1" dirty="0"/>
              <a:t>Resultado:</a:t>
            </a:r>
          </a:p>
          <a:p>
            <a:r>
              <a:rPr lang="es-CL" b="1" dirty="0"/>
              <a:t>Edad promedio = 33 años</a:t>
            </a:r>
            <a:endParaRPr lang="es-CL" dirty="0"/>
          </a:p>
          <a:p>
            <a:r>
              <a:rPr lang="es-CL" b="1" dirty="0"/>
              <a:t>¿Cuándo utilizarla?</a:t>
            </a:r>
          </a:p>
          <a:p>
            <a:r>
              <a:rPr lang="es-CL" dirty="0"/>
              <a:t>Cuando queremos conocer el valor promedio de:</a:t>
            </a:r>
          </a:p>
          <a:p>
            <a:pPr lvl="0"/>
            <a:r>
              <a:rPr lang="es-CL" dirty="0"/>
              <a:t>Edades </a:t>
            </a:r>
          </a:p>
          <a:p>
            <a:pPr lvl="0"/>
            <a:r>
              <a:rPr lang="es-CL" dirty="0"/>
              <a:t>Notas </a:t>
            </a:r>
          </a:p>
          <a:p>
            <a:pPr lvl="0"/>
            <a:r>
              <a:rPr lang="es-CL" dirty="0"/>
              <a:t>Ventas </a:t>
            </a:r>
          </a:p>
          <a:p>
            <a:pPr lvl="0"/>
            <a:r>
              <a:rPr lang="es-CL" dirty="0"/>
              <a:t>Sueldos </a:t>
            </a:r>
          </a:p>
          <a:p>
            <a:pPr lvl="0"/>
            <a:r>
              <a:rPr lang="es-CL" dirty="0"/>
              <a:t>Satisfacción </a:t>
            </a:r>
          </a:p>
          <a:p>
            <a:pPr lvl="0"/>
            <a:r>
              <a:rPr lang="es-CL" dirty="0"/>
              <a:t>Puntajes</a:t>
            </a:r>
          </a:p>
          <a:p>
            <a:pPr>
              <a:spcAft>
                <a:spcPts val="1000"/>
              </a:spcAft>
              <a:defRPr sz="1900"/>
            </a:pPr>
            <a:endParaRPr dirty="0"/>
          </a:p>
        </p:txBody>
      </p:sp>
      <p:sp>
        <p:nvSpPr>
          <p:cNvPr id="5" name="TextBox 4"/>
          <p:cNvSpPr txBox="1"/>
          <p:nvPr/>
        </p:nvSpPr>
        <p:spPr>
          <a:xfrm>
            <a:off x="5883442" y="3039759"/>
            <a:ext cx="4114800" cy="1280160"/>
          </a:xfrm>
          <a:prstGeom prst="rect">
            <a:avLst/>
          </a:prstGeom>
          <a:noFill/>
        </p:spPr>
        <p:txBody>
          <a:bodyPr wrap="square">
            <a:spAutoFit/>
          </a:bodyPr>
          <a:lstStyle/>
          <a:p>
            <a:pPr>
              <a:defRPr sz="1600" b="1"/>
            </a:pPr>
            <a:r>
              <a:rPr dirty="0" err="1"/>
              <a:t>Fórmula</a:t>
            </a:r>
            <a:endParaRPr dirty="0"/>
          </a:p>
          <a:p>
            <a:pPr>
              <a:defRPr sz="1800"/>
            </a:pPr>
            <a:r>
              <a:rPr dirty="0"/>
              <a:t>=PROMEDIO(J2:J1001)</a:t>
            </a:r>
          </a:p>
        </p:txBody>
      </p:sp>
      <p:sp>
        <p:nvSpPr>
          <p:cNvPr id="6" name="TextBox 5"/>
          <p:cNvSpPr txBox="1"/>
          <p:nvPr/>
        </p:nvSpPr>
        <p:spPr>
          <a:xfrm>
            <a:off x="8365958" y="2893375"/>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promedio</a:t>
            </a:r>
            <a:r>
              <a:rPr dirty="0"/>
              <a:t> del Total de </a:t>
            </a:r>
            <a:r>
              <a:rPr dirty="0" err="1"/>
              <a:t>todas</a:t>
            </a:r>
            <a:r>
              <a:rPr dirty="0"/>
              <a:t> las </a:t>
            </a:r>
            <a:r>
              <a:rPr dirty="0" err="1"/>
              <a:t>ventas</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2. MEDIANA</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Devuelve el valor central cuando los datos están ordenados.</a:t>
            </a:r>
          </a:p>
        </p:txBody>
      </p:sp>
      <p:sp>
        <p:nvSpPr>
          <p:cNvPr id="4" name="TextBox 3"/>
          <p:cNvSpPr txBox="1"/>
          <p:nvPr/>
        </p:nvSpPr>
        <p:spPr>
          <a:xfrm>
            <a:off x="731519" y="1508760"/>
            <a:ext cx="11300059" cy="677108"/>
          </a:xfrm>
          <a:prstGeom prst="rect">
            <a:avLst/>
          </a:prstGeom>
          <a:noFill/>
        </p:spPr>
        <p:txBody>
          <a:bodyPr wrap="square">
            <a:spAutoFit/>
          </a:bodyPr>
          <a:lstStyle/>
          <a:p>
            <a:pPr>
              <a:spcAft>
                <a:spcPts val="1000"/>
              </a:spcAft>
              <a:defRPr sz="1900"/>
            </a:pPr>
            <a:r>
              <a:rPr dirty="0"/>
              <a:t>Es </a:t>
            </a:r>
            <a:r>
              <a:rPr dirty="0" err="1"/>
              <a:t>menos</a:t>
            </a:r>
            <a:r>
              <a:rPr dirty="0"/>
              <a:t> sensible </a:t>
            </a:r>
            <a:r>
              <a:rPr dirty="0" err="1"/>
              <a:t>que</a:t>
            </a:r>
            <a:r>
              <a:rPr dirty="0"/>
              <a:t> el </a:t>
            </a:r>
            <a:r>
              <a:rPr dirty="0" err="1"/>
              <a:t>promedio</a:t>
            </a:r>
            <a:r>
              <a:rPr dirty="0"/>
              <a:t> a </a:t>
            </a:r>
            <a:r>
              <a:rPr dirty="0" err="1"/>
              <a:t>valores</a:t>
            </a:r>
            <a:r>
              <a:rPr dirty="0"/>
              <a:t> </a:t>
            </a:r>
            <a:r>
              <a:rPr dirty="0" err="1"/>
              <a:t>extremadamente</a:t>
            </a:r>
            <a:r>
              <a:rPr dirty="0"/>
              <a:t> altos o </a:t>
            </a:r>
            <a:r>
              <a:rPr dirty="0" err="1"/>
              <a:t>bajos</a:t>
            </a:r>
            <a:r>
              <a:rPr dirty="0"/>
              <a:t>.</a:t>
            </a:r>
            <a:r>
              <a:rPr lang="es-CL" dirty="0"/>
              <a:t> </a:t>
            </a:r>
            <a:r>
              <a:rPr dirty="0" err="1"/>
              <a:t>Útil</a:t>
            </a:r>
            <a:r>
              <a:rPr dirty="0"/>
              <a:t> </a:t>
            </a:r>
            <a:r>
              <a:rPr dirty="0" err="1"/>
              <a:t>cuando</a:t>
            </a:r>
            <a:r>
              <a:rPr dirty="0"/>
              <a:t> </a:t>
            </a:r>
            <a:r>
              <a:rPr dirty="0" err="1"/>
              <a:t>existen</a:t>
            </a:r>
            <a:r>
              <a:rPr dirty="0"/>
              <a:t> </a:t>
            </a:r>
            <a:r>
              <a:rPr dirty="0" err="1"/>
              <a:t>ventas</a:t>
            </a:r>
            <a:r>
              <a:rPr dirty="0"/>
              <a:t> </a:t>
            </a:r>
            <a:r>
              <a:rPr dirty="0" err="1"/>
              <a:t>muy</a:t>
            </a:r>
            <a:r>
              <a:rPr dirty="0"/>
              <a:t> </a:t>
            </a:r>
            <a:r>
              <a:rPr dirty="0" err="1"/>
              <a:t>grandes</a:t>
            </a:r>
            <a:r>
              <a:rPr dirty="0"/>
              <a:t> </a:t>
            </a:r>
            <a:r>
              <a:rPr dirty="0" err="1"/>
              <a:t>que</a:t>
            </a:r>
            <a:r>
              <a:rPr dirty="0"/>
              <a:t> </a:t>
            </a:r>
            <a:r>
              <a:rPr dirty="0" err="1"/>
              <a:t>pueden</a:t>
            </a:r>
            <a:r>
              <a:rPr dirty="0"/>
              <a:t> </a:t>
            </a:r>
            <a:r>
              <a:rPr dirty="0" err="1"/>
              <a:t>distorsionar</a:t>
            </a:r>
            <a:r>
              <a:rPr dirty="0"/>
              <a:t> el </a:t>
            </a:r>
            <a:r>
              <a:rPr dirty="0" err="1"/>
              <a:t>promedio</a:t>
            </a:r>
            <a:r>
              <a:rPr dirty="0"/>
              <a:t>.</a:t>
            </a:r>
          </a:p>
        </p:txBody>
      </p:sp>
      <p:sp>
        <p:nvSpPr>
          <p:cNvPr id="5" name="TextBox 4"/>
          <p:cNvSpPr txBox="1"/>
          <p:nvPr/>
        </p:nvSpPr>
        <p:spPr>
          <a:xfrm>
            <a:off x="8491889" y="3805652"/>
            <a:ext cx="4114800" cy="1280160"/>
          </a:xfrm>
          <a:prstGeom prst="rect">
            <a:avLst/>
          </a:prstGeom>
          <a:noFill/>
        </p:spPr>
        <p:txBody>
          <a:bodyPr wrap="square">
            <a:spAutoFit/>
          </a:bodyPr>
          <a:lstStyle/>
          <a:p>
            <a:pPr>
              <a:defRPr sz="1600" b="1"/>
            </a:pPr>
            <a:r>
              <a:rPr dirty="0" err="1"/>
              <a:t>Fórmula</a:t>
            </a:r>
            <a:endParaRPr dirty="0"/>
          </a:p>
          <a:p>
            <a:pPr>
              <a:defRPr sz="1800"/>
            </a:pPr>
            <a:r>
              <a:rPr dirty="0"/>
              <a:t>=MEDIANA(J2:J1001)</a:t>
            </a:r>
          </a:p>
        </p:txBody>
      </p:sp>
      <p:sp>
        <p:nvSpPr>
          <p:cNvPr id="6" name="TextBox 5"/>
          <p:cNvSpPr txBox="1"/>
          <p:nvPr/>
        </p:nvSpPr>
        <p:spPr>
          <a:xfrm>
            <a:off x="8607391" y="5440680"/>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venta</a:t>
            </a:r>
            <a:r>
              <a:rPr dirty="0"/>
              <a:t> </a:t>
            </a:r>
            <a:r>
              <a:rPr dirty="0" err="1"/>
              <a:t>típica</a:t>
            </a:r>
            <a:r>
              <a:rPr dirty="0"/>
              <a:t> del conjunto de </a:t>
            </a:r>
            <a:r>
              <a:rPr dirty="0" err="1"/>
              <a:t>datos</a:t>
            </a:r>
            <a:r>
              <a:rPr dirty="0"/>
              <a:t>.</a:t>
            </a:r>
          </a:p>
        </p:txBody>
      </p:sp>
      <p:pic>
        <p:nvPicPr>
          <p:cNvPr id="7" name="Imagen 6" descr="APRENDO 5TO EGB: MEDIA - MEDIANA - MODA">
            <a:extLst>
              <a:ext uri="{FF2B5EF4-FFF2-40B4-BE49-F238E27FC236}">
                <a16:creationId xmlns:a16="http://schemas.microsoft.com/office/drawing/2014/main" id="{1850A3CE-0D91-E817-4BC0-4200B512C7E4}"/>
              </a:ext>
            </a:extLst>
          </p:cNvPr>
          <p:cNvPicPr>
            <a:picLocks noChangeAspect="1"/>
          </p:cNvPicPr>
          <p:nvPr/>
        </p:nvPicPr>
        <p:blipFill>
          <a:blip r:embed="rId2"/>
          <a:stretch>
            <a:fillRect/>
          </a:stretch>
        </p:blipFill>
        <p:spPr>
          <a:xfrm>
            <a:off x="594360" y="2353504"/>
            <a:ext cx="7748337" cy="41844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Que Es La Media En Estadistica Ejemplos - Opciones de Ejemplo">
            <a:extLst>
              <a:ext uri="{FF2B5EF4-FFF2-40B4-BE49-F238E27FC236}">
                <a16:creationId xmlns:a16="http://schemas.microsoft.com/office/drawing/2014/main" id="{4F96FF1A-7708-A4E9-BCF2-671BC443B220}"/>
              </a:ext>
            </a:extLst>
          </p:cNvPr>
          <p:cNvPicPr>
            <a:picLocks noChangeAspect="1"/>
          </p:cNvPicPr>
          <p:nvPr/>
        </p:nvPicPr>
        <p:blipFill>
          <a:blip r:embed="rId2"/>
          <a:stretch>
            <a:fillRect/>
          </a:stretch>
        </p:blipFill>
        <p:spPr>
          <a:xfrm>
            <a:off x="0" y="425116"/>
            <a:ext cx="12192000" cy="6543040"/>
          </a:xfrm>
          <a:prstGeom prst="rect">
            <a:avLst/>
          </a:prstGeom>
        </p:spPr>
      </p:pic>
    </p:spTree>
    <p:extLst>
      <p:ext uri="{BB962C8B-B14F-4D97-AF65-F5344CB8AC3E}">
        <p14:creationId xmlns:p14="http://schemas.microsoft.com/office/powerpoint/2010/main" val="3828291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3. MÁXIMO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Encuentra el valor numérico más alto de un rango.</a:t>
            </a:r>
          </a:p>
        </p:txBody>
      </p:sp>
      <p:sp>
        <p:nvSpPr>
          <p:cNvPr id="4" name="TextBox 3"/>
          <p:cNvSpPr txBox="1"/>
          <p:nvPr/>
        </p:nvSpPr>
        <p:spPr>
          <a:xfrm>
            <a:off x="731520" y="1508760"/>
            <a:ext cx="5630003" cy="4591000"/>
          </a:xfrm>
          <a:prstGeom prst="rect">
            <a:avLst/>
          </a:prstGeom>
          <a:noFill/>
        </p:spPr>
        <p:txBody>
          <a:bodyPr wrap="none">
            <a:spAutoFit/>
          </a:bodyPr>
          <a:lstStyle/>
          <a:p>
            <a:pPr>
              <a:spcAft>
                <a:spcPts val="1000"/>
              </a:spcAft>
              <a:defRPr sz="1900"/>
            </a:pPr>
            <a:r>
              <a:rPr lang="es-ES" dirty="0"/>
              <a:t>Permite identificar el mayor valor registrado.</a:t>
            </a:r>
          </a:p>
          <a:p>
            <a:pPr>
              <a:spcAft>
                <a:spcPts val="1000"/>
              </a:spcAft>
              <a:defRPr sz="1900"/>
            </a:pPr>
            <a:r>
              <a:rPr lang="es-ES" dirty="0"/>
              <a:t>Se usa frecuentemente para detectar la venta más alta.</a:t>
            </a:r>
          </a:p>
          <a:p>
            <a:pPr>
              <a:spcAft>
                <a:spcPts val="1000"/>
              </a:spcAft>
              <a:defRPr sz="1900"/>
            </a:pPr>
            <a:endParaRPr lang="es-ES" dirty="0"/>
          </a:p>
          <a:p>
            <a:pPr>
              <a:spcAft>
                <a:spcPts val="1000"/>
              </a:spcAft>
              <a:defRPr sz="1900"/>
            </a:pPr>
            <a:r>
              <a:rPr lang="es-ES" dirty="0"/>
              <a:t>VENTAS</a:t>
            </a:r>
          </a:p>
          <a:p>
            <a:pPr>
              <a:spcAft>
                <a:spcPts val="1000"/>
              </a:spcAft>
              <a:defRPr sz="1900"/>
            </a:pPr>
            <a:r>
              <a:rPr lang="es-ES" dirty="0"/>
              <a:t>120000</a:t>
            </a:r>
          </a:p>
          <a:p>
            <a:pPr>
              <a:spcAft>
                <a:spcPts val="1000"/>
              </a:spcAft>
              <a:defRPr sz="1900"/>
            </a:pPr>
            <a:r>
              <a:rPr lang="es-ES" dirty="0"/>
              <a:t>95000</a:t>
            </a:r>
          </a:p>
          <a:p>
            <a:pPr>
              <a:spcAft>
                <a:spcPts val="1000"/>
              </a:spcAft>
              <a:defRPr sz="1900"/>
            </a:pPr>
            <a:r>
              <a:rPr lang="es-ES" dirty="0"/>
              <a:t>150000</a:t>
            </a:r>
          </a:p>
          <a:p>
            <a:pPr>
              <a:spcAft>
                <a:spcPts val="1000"/>
              </a:spcAft>
              <a:defRPr sz="1900"/>
            </a:pPr>
            <a:r>
              <a:rPr lang="es-ES" dirty="0"/>
              <a:t>110000</a:t>
            </a:r>
          </a:p>
          <a:p>
            <a:pPr>
              <a:spcAft>
                <a:spcPts val="1000"/>
              </a:spcAft>
              <a:defRPr sz="1900"/>
            </a:pPr>
            <a:r>
              <a:rPr lang="es-ES" dirty="0"/>
              <a:t>175000</a:t>
            </a:r>
          </a:p>
          <a:p>
            <a:pPr>
              <a:spcAft>
                <a:spcPts val="1000"/>
              </a:spcAft>
              <a:defRPr sz="1900"/>
            </a:pPr>
            <a:r>
              <a:rPr lang="es-CL" dirty="0"/>
              <a:t>¿Cuál fue la venta más alta registrada?</a:t>
            </a:r>
          </a:p>
          <a:p>
            <a:pPr>
              <a:spcAft>
                <a:spcPts val="1000"/>
              </a:spcAft>
              <a:defRPr sz="1900"/>
            </a:pPr>
            <a:endParaRPr lang="es-ES" dirty="0"/>
          </a:p>
        </p:txBody>
      </p:sp>
      <p:sp>
        <p:nvSpPr>
          <p:cNvPr id="5" name="TextBox 4"/>
          <p:cNvSpPr txBox="1"/>
          <p:nvPr/>
        </p:nvSpPr>
        <p:spPr>
          <a:xfrm>
            <a:off x="7406640" y="1600200"/>
            <a:ext cx="4114800" cy="1280160"/>
          </a:xfrm>
          <a:prstGeom prst="rect">
            <a:avLst/>
          </a:prstGeom>
          <a:noFill/>
        </p:spPr>
        <p:txBody>
          <a:bodyPr wrap="square">
            <a:spAutoFit/>
          </a:bodyPr>
          <a:lstStyle/>
          <a:p>
            <a:pPr>
              <a:defRPr sz="1600" b="1"/>
            </a:pPr>
            <a:r>
              <a:t>Fórmula</a:t>
            </a:r>
          </a:p>
          <a:p>
            <a:pPr>
              <a:defRPr sz="1800"/>
            </a:pPr>
            <a:r>
              <a:t>=MAX(J2:J1001)</a:t>
            </a:r>
          </a:p>
        </p:txBody>
      </p:sp>
      <p:sp>
        <p:nvSpPr>
          <p:cNvPr id="6" name="TextBox 5"/>
          <p:cNvSpPr txBox="1"/>
          <p:nvPr/>
        </p:nvSpPr>
        <p:spPr>
          <a:xfrm>
            <a:off x="7406640" y="3063240"/>
            <a:ext cx="4114800" cy="2194560"/>
          </a:xfrm>
          <a:prstGeom prst="rect">
            <a:avLst/>
          </a:prstGeom>
          <a:noFill/>
        </p:spPr>
        <p:txBody>
          <a:bodyPr wrap="square">
            <a:spAutoFit/>
          </a:bodyPr>
          <a:lstStyle/>
          <a:p>
            <a:pPr>
              <a:defRPr sz="1600" b="1"/>
            </a:pPr>
            <a:r>
              <a:t>Aplicación</a:t>
            </a:r>
          </a:p>
          <a:p>
            <a:pPr>
              <a:defRPr sz="1700"/>
            </a:pPr>
            <a:r>
              <a:t>Ej.: mayor Total de una venta.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4. MÍNIMO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Encuentra el valor numérico más bajo de un rango.</a:t>
            </a:r>
          </a:p>
        </p:txBody>
      </p:sp>
      <p:sp>
        <p:nvSpPr>
          <p:cNvPr id="4" name="TextBox 3"/>
          <p:cNvSpPr txBox="1"/>
          <p:nvPr/>
        </p:nvSpPr>
        <p:spPr>
          <a:xfrm>
            <a:off x="731520" y="1508760"/>
            <a:ext cx="6623095" cy="4591000"/>
          </a:xfrm>
          <a:prstGeom prst="rect">
            <a:avLst/>
          </a:prstGeom>
          <a:noFill/>
        </p:spPr>
        <p:txBody>
          <a:bodyPr wrap="none">
            <a:spAutoFit/>
          </a:bodyPr>
          <a:lstStyle/>
          <a:p>
            <a:pPr>
              <a:spcAft>
                <a:spcPts val="1000"/>
              </a:spcAft>
              <a:defRPr sz="1900"/>
            </a:pPr>
            <a:r>
              <a:rPr dirty="0" err="1"/>
              <a:t>Permite</a:t>
            </a:r>
            <a:r>
              <a:rPr dirty="0"/>
              <a:t> </a:t>
            </a:r>
            <a:r>
              <a:rPr dirty="0" err="1"/>
              <a:t>identificar</a:t>
            </a:r>
            <a:r>
              <a:rPr dirty="0"/>
              <a:t> el </a:t>
            </a:r>
            <a:r>
              <a:rPr dirty="0" err="1"/>
              <a:t>menor</a:t>
            </a:r>
            <a:r>
              <a:rPr dirty="0"/>
              <a:t> valor </a:t>
            </a:r>
            <a:r>
              <a:rPr dirty="0" err="1"/>
              <a:t>registrado</a:t>
            </a:r>
            <a:r>
              <a:rPr dirty="0"/>
              <a:t>.</a:t>
            </a:r>
          </a:p>
          <a:p>
            <a:pPr>
              <a:spcAft>
                <a:spcPts val="1000"/>
              </a:spcAft>
              <a:defRPr sz="1900"/>
            </a:pPr>
            <a:r>
              <a:rPr dirty="0" err="1"/>
              <a:t>Útil</a:t>
            </a:r>
            <a:r>
              <a:rPr dirty="0"/>
              <a:t> para </a:t>
            </a:r>
            <a:r>
              <a:rPr dirty="0" err="1"/>
              <a:t>revisar</a:t>
            </a:r>
            <a:r>
              <a:rPr dirty="0"/>
              <a:t> </a:t>
            </a:r>
            <a:r>
              <a:rPr dirty="0" err="1"/>
              <a:t>valores</a:t>
            </a:r>
            <a:r>
              <a:rPr dirty="0"/>
              <a:t> </a:t>
            </a:r>
            <a:r>
              <a:rPr dirty="0" err="1"/>
              <a:t>mínimos</a:t>
            </a:r>
            <a:r>
              <a:rPr dirty="0"/>
              <a:t> de </a:t>
            </a:r>
            <a:r>
              <a:rPr dirty="0" err="1"/>
              <a:t>ventas</a:t>
            </a:r>
            <a:r>
              <a:rPr dirty="0"/>
              <a:t>, </a:t>
            </a:r>
            <a:r>
              <a:rPr dirty="0" err="1"/>
              <a:t>precios</a:t>
            </a:r>
            <a:r>
              <a:rPr dirty="0"/>
              <a:t> o </a:t>
            </a:r>
            <a:r>
              <a:rPr dirty="0" err="1"/>
              <a:t>cantidades</a:t>
            </a:r>
            <a:r>
              <a:rPr dirty="0"/>
              <a:t>.</a:t>
            </a:r>
            <a:endParaRPr lang="es-CL" dirty="0"/>
          </a:p>
          <a:p>
            <a:pPr>
              <a:spcAft>
                <a:spcPts val="1000"/>
              </a:spcAft>
              <a:defRPr sz="1900"/>
            </a:pPr>
            <a:endParaRPr lang="es-CL" dirty="0"/>
          </a:p>
          <a:p>
            <a:pPr>
              <a:spcAft>
                <a:spcPts val="1000"/>
              </a:spcAft>
              <a:defRPr sz="1900"/>
            </a:pPr>
            <a:r>
              <a:rPr lang="es-ES" dirty="0"/>
              <a:t>VENTAS</a:t>
            </a:r>
          </a:p>
          <a:p>
            <a:pPr>
              <a:spcAft>
                <a:spcPts val="1000"/>
              </a:spcAft>
              <a:defRPr sz="1900"/>
            </a:pPr>
            <a:r>
              <a:rPr lang="es-ES" dirty="0"/>
              <a:t>120000</a:t>
            </a:r>
          </a:p>
          <a:p>
            <a:pPr>
              <a:spcAft>
                <a:spcPts val="1000"/>
              </a:spcAft>
              <a:defRPr sz="1900"/>
            </a:pPr>
            <a:r>
              <a:rPr lang="es-ES" dirty="0"/>
              <a:t>95000</a:t>
            </a:r>
          </a:p>
          <a:p>
            <a:pPr>
              <a:spcAft>
                <a:spcPts val="1000"/>
              </a:spcAft>
              <a:defRPr sz="1900"/>
            </a:pPr>
            <a:r>
              <a:rPr lang="es-ES" dirty="0"/>
              <a:t>150000</a:t>
            </a:r>
          </a:p>
          <a:p>
            <a:pPr>
              <a:spcAft>
                <a:spcPts val="1000"/>
              </a:spcAft>
              <a:defRPr sz="1900"/>
            </a:pPr>
            <a:r>
              <a:rPr lang="es-ES" dirty="0"/>
              <a:t>110000</a:t>
            </a:r>
          </a:p>
          <a:p>
            <a:pPr>
              <a:spcAft>
                <a:spcPts val="1000"/>
              </a:spcAft>
              <a:defRPr sz="1900"/>
            </a:pPr>
            <a:r>
              <a:rPr lang="es-ES" dirty="0"/>
              <a:t>175000</a:t>
            </a:r>
          </a:p>
          <a:p>
            <a:pPr>
              <a:spcAft>
                <a:spcPts val="1000"/>
              </a:spcAft>
              <a:defRPr sz="1900"/>
            </a:pPr>
            <a:r>
              <a:rPr lang="es-CL" dirty="0"/>
              <a:t>¿Cuál fue la venta más baja registrada?</a:t>
            </a:r>
          </a:p>
          <a:p>
            <a:pPr>
              <a:spcAft>
                <a:spcPts val="1000"/>
              </a:spcAft>
              <a:defRPr sz="1900"/>
            </a:pPr>
            <a:endParaRPr lang="es-CL" dirty="0"/>
          </a:p>
        </p:txBody>
      </p:sp>
      <p:sp>
        <p:nvSpPr>
          <p:cNvPr id="5" name="TextBox 4"/>
          <p:cNvSpPr txBox="1"/>
          <p:nvPr/>
        </p:nvSpPr>
        <p:spPr>
          <a:xfrm>
            <a:off x="7406640" y="1600200"/>
            <a:ext cx="4114800" cy="1280160"/>
          </a:xfrm>
          <a:prstGeom prst="rect">
            <a:avLst/>
          </a:prstGeom>
          <a:noFill/>
        </p:spPr>
        <p:txBody>
          <a:bodyPr wrap="square">
            <a:spAutoFit/>
          </a:bodyPr>
          <a:lstStyle/>
          <a:p>
            <a:pPr>
              <a:defRPr sz="1600" b="1"/>
            </a:pPr>
            <a:r>
              <a:t>Fórmula</a:t>
            </a:r>
          </a:p>
          <a:p>
            <a:pPr>
              <a:defRPr sz="1800"/>
            </a:pPr>
            <a:r>
              <a:t>=MIN(J2:J1001)</a:t>
            </a:r>
          </a:p>
        </p:txBody>
      </p:sp>
      <p:sp>
        <p:nvSpPr>
          <p:cNvPr id="6" name="TextBox 5"/>
          <p:cNvSpPr txBox="1"/>
          <p:nvPr/>
        </p:nvSpPr>
        <p:spPr>
          <a:xfrm>
            <a:off x="7406640" y="3063240"/>
            <a:ext cx="4114800" cy="2194560"/>
          </a:xfrm>
          <a:prstGeom prst="rect">
            <a:avLst/>
          </a:prstGeom>
          <a:noFill/>
        </p:spPr>
        <p:txBody>
          <a:bodyPr wrap="square">
            <a:spAutoFit/>
          </a:bodyPr>
          <a:lstStyle/>
          <a:p>
            <a:pPr>
              <a:defRPr sz="1600" b="1"/>
            </a:pPr>
            <a:r>
              <a:t>Aplicación</a:t>
            </a:r>
          </a:p>
          <a:p>
            <a:pPr>
              <a:defRPr sz="1700"/>
            </a:pPr>
            <a:r>
              <a:t>Ej.: menor Total de una venta.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5. SUMA</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Suma todos los valores de un rango.</a:t>
            </a:r>
          </a:p>
        </p:txBody>
      </p:sp>
      <p:sp>
        <p:nvSpPr>
          <p:cNvPr id="4" name="TextBox 3"/>
          <p:cNvSpPr txBox="1"/>
          <p:nvPr/>
        </p:nvSpPr>
        <p:spPr>
          <a:xfrm>
            <a:off x="731520" y="1508760"/>
            <a:ext cx="7073796" cy="5011628"/>
          </a:xfrm>
          <a:prstGeom prst="rect">
            <a:avLst/>
          </a:prstGeom>
          <a:noFill/>
        </p:spPr>
        <p:txBody>
          <a:bodyPr wrap="none">
            <a:spAutoFit/>
          </a:bodyPr>
          <a:lstStyle/>
          <a:p>
            <a:pPr>
              <a:spcAft>
                <a:spcPts val="1000"/>
              </a:spcAft>
              <a:defRPr sz="1900"/>
            </a:pPr>
            <a:r>
              <a:rPr dirty="0" err="1"/>
              <a:t>Permite</a:t>
            </a:r>
            <a:r>
              <a:rPr dirty="0"/>
              <a:t> </a:t>
            </a:r>
            <a:r>
              <a:rPr dirty="0" err="1"/>
              <a:t>obtener</a:t>
            </a:r>
            <a:r>
              <a:rPr dirty="0"/>
              <a:t> </a:t>
            </a:r>
            <a:r>
              <a:rPr dirty="0" err="1"/>
              <a:t>totales</a:t>
            </a:r>
            <a:r>
              <a:rPr dirty="0"/>
              <a:t> </a:t>
            </a:r>
            <a:r>
              <a:rPr dirty="0" err="1"/>
              <a:t>acumulados</a:t>
            </a:r>
            <a:r>
              <a:rPr dirty="0"/>
              <a:t>.</a:t>
            </a:r>
          </a:p>
          <a:p>
            <a:pPr>
              <a:spcAft>
                <a:spcPts val="1000"/>
              </a:spcAft>
              <a:defRPr sz="1900"/>
            </a:pPr>
            <a:r>
              <a:rPr dirty="0"/>
              <a:t>Es fundamental para </a:t>
            </a:r>
            <a:r>
              <a:rPr dirty="0" err="1"/>
              <a:t>calcular</a:t>
            </a:r>
            <a:r>
              <a:rPr dirty="0"/>
              <a:t> </a:t>
            </a:r>
            <a:r>
              <a:rPr dirty="0" err="1"/>
              <a:t>ventas</a:t>
            </a:r>
            <a:r>
              <a:rPr dirty="0"/>
              <a:t> </a:t>
            </a:r>
            <a:r>
              <a:rPr dirty="0" err="1"/>
              <a:t>totales</a:t>
            </a:r>
            <a:r>
              <a:rPr dirty="0"/>
              <a:t> o </a:t>
            </a:r>
            <a:r>
              <a:rPr dirty="0" err="1"/>
              <a:t>cantidades</a:t>
            </a:r>
            <a:r>
              <a:rPr dirty="0"/>
              <a:t> </a:t>
            </a:r>
            <a:r>
              <a:rPr dirty="0" err="1"/>
              <a:t>acumuladas</a:t>
            </a:r>
            <a:r>
              <a:rPr dirty="0"/>
              <a:t>.</a:t>
            </a:r>
            <a:endParaRPr lang="es-CL" dirty="0"/>
          </a:p>
          <a:p>
            <a:pPr>
              <a:spcAft>
                <a:spcPts val="1000"/>
              </a:spcAft>
              <a:defRPr sz="1900"/>
            </a:pPr>
            <a:endParaRPr lang="es-CL" dirty="0"/>
          </a:p>
          <a:p>
            <a:pPr>
              <a:spcAft>
                <a:spcPts val="1000"/>
              </a:spcAft>
              <a:defRPr sz="1900"/>
            </a:pPr>
            <a:endParaRPr lang="es-CL" dirty="0"/>
          </a:p>
          <a:p>
            <a:pPr>
              <a:spcAft>
                <a:spcPts val="1000"/>
              </a:spcAft>
              <a:defRPr sz="1900"/>
            </a:pPr>
            <a:r>
              <a:rPr lang="es-ES" dirty="0"/>
              <a:t>VENTAS</a:t>
            </a:r>
          </a:p>
          <a:p>
            <a:pPr>
              <a:spcAft>
                <a:spcPts val="1000"/>
              </a:spcAft>
              <a:defRPr sz="1900"/>
            </a:pPr>
            <a:r>
              <a:rPr lang="es-ES" dirty="0"/>
              <a:t>120000</a:t>
            </a:r>
          </a:p>
          <a:p>
            <a:pPr>
              <a:spcAft>
                <a:spcPts val="1000"/>
              </a:spcAft>
              <a:defRPr sz="1900"/>
            </a:pPr>
            <a:r>
              <a:rPr lang="es-ES" dirty="0"/>
              <a:t>95000</a:t>
            </a:r>
          </a:p>
          <a:p>
            <a:pPr>
              <a:spcAft>
                <a:spcPts val="1000"/>
              </a:spcAft>
              <a:defRPr sz="1900"/>
            </a:pPr>
            <a:r>
              <a:rPr lang="es-ES" dirty="0"/>
              <a:t>150000</a:t>
            </a:r>
          </a:p>
          <a:p>
            <a:pPr>
              <a:spcAft>
                <a:spcPts val="1000"/>
              </a:spcAft>
              <a:defRPr sz="1900"/>
            </a:pPr>
            <a:r>
              <a:rPr lang="es-ES" dirty="0"/>
              <a:t>110000</a:t>
            </a:r>
          </a:p>
          <a:p>
            <a:pPr>
              <a:spcAft>
                <a:spcPts val="1000"/>
              </a:spcAft>
              <a:defRPr sz="1900"/>
            </a:pPr>
            <a:r>
              <a:rPr lang="es-ES" dirty="0"/>
              <a:t>175000</a:t>
            </a:r>
          </a:p>
          <a:p>
            <a:pPr>
              <a:spcAft>
                <a:spcPts val="1000"/>
              </a:spcAft>
              <a:defRPr sz="1900"/>
            </a:pPr>
            <a:r>
              <a:rPr lang="es-CL" dirty="0"/>
              <a:t>¿Cuál fue la suma total de las ventas?</a:t>
            </a:r>
          </a:p>
          <a:p>
            <a:pPr>
              <a:spcAft>
                <a:spcPts val="1000"/>
              </a:spcAft>
              <a:defRPr sz="1900"/>
            </a:pPr>
            <a:endParaRPr dirty="0"/>
          </a:p>
        </p:txBody>
      </p:sp>
      <p:sp>
        <p:nvSpPr>
          <p:cNvPr id="5" name="TextBox 4"/>
          <p:cNvSpPr txBox="1"/>
          <p:nvPr/>
        </p:nvSpPr>
        <p:spPr>
          <a:xfrm>
            <a:off x="8077200" y="1600200"/>
            <a:ext cx="4114800" cy="1280160"/>
          </a:xfrm>
          <a:prstGeom prst="rect">
            <a:avLst/>
          </a:prstGeom>
          <a:noFill/>
        </p:spPr>
        <p:txBody>
          <a:bodyPr wrap="square">
            <a:spAutoFit/>
          </a:bodyPr>
          <a:lstStyle/>
          <a:p>
            <a:pPr>
              <a:defRPr sz="1600" b="1"/>
            </a:pPr>
            <a:r>
              <a:rPr dirty="0" err="1"/>
              <a:t>Fórmula</a:t>
            </a:r>
            <a:endParaRPr dirty="0"/>
          </a:p>
          <a:p>
            <a:pPr>
              <a:defRPr sz="1800"/>
            </a:pPr>
            <a:r>
              <a:rPr dirty="0"/>
              <a:t>=SUMA(J2:J1001)</a:t>
            </a:r>
          </a:p>
        </p:txBody>
      </p:sp>
      <p:sp>
        <p:nvSpPr>
          <p:cNvPr id="6" name="TextBox 5"/>
          <p:cNvSpPr txBox="1"/>
          <p:nvPr/>
        </p:nvSpPr>
        <p:spPr>
          <a:xfrm>
            <a:off x="8077200" y="3063240"/>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total </a:t>
            </a:r>
            <a:r>
              <a:rPr dirty="0" err="1"/>
              <a:t>vendido</a:t>
            </a:r>
            <a:r>
              <a:rPr dirty="0"/>
              <a:t> </a:t>
            </a:r>
            <a:r>
              <a:rPr dirty="0" err="1"/>
              <a:t>en</a:t>
            </a:r>
            <a:r>
              <a:rPr dirty="0"/>
              <a:t> </a:t>
            </a:r>
            <a:r>
              <a:rPr dirty="0" err="1"/>
              <a:t>todo</a:t>
            </a:r>
            <a:r>
              <a:rPr dirty="0"/>
              <a:t> el </a:t>
            </a:r>
            <a:r>
              <a:rPr dirty="0" err="1"/>
              <a:t>período</a:t>
            </a:r>
            <a:r>
              <a:rPr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6. CONTAR</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Cuenta las celdas que contienen números.</a:t>
            </a:r>
          </a:p>
        </p:txBody>
      </p:sp>
      <p:sp>
        <p:nvSpPr>
          <p:cNvPr id="4" name="TextBox 3"/>
          <p:cNvSpPr txBox="1"/>
          <p:nvPr/>
        </p:nvSpPr>
        <p:spPr>
          <a:xfrm>
            <a:off x="731520" y="1508760"/>
            <a:ext cx="6754926" cy="5011628"/>
          </a:xfrm>
          <a:prstGeom prst="rect">
            <a:avLst/>
          </a:prstGeom>
          <a:noFill/>
        </p:spPr>
        <p:txBody>
          <a:bodyPr wrap="none">
            <a:spAutoFit/>
          </a:bodyPr>
          <a:lstStyle/>
          <a:p>
            <a:pPr>
              <a:spcAft>
                <a:spcPts val="1000"/>
              </a:spcAft>
              <a:defRPr sz="1900"/>
            </a:pPr>
            <a:r>
              <a:rPr dirty="0"/>
              <a:t>No </a:t>
            </a:r>
            <a:r>
              <a:rPr dirty="0" err="1"/>
              <a:t>cuenta</a:t>
            </a:r>
            <a:r>
              <a:rPr dirty="0"/>
              <a:t> </a:t>
            </a:r>
            <a:r>
              <a:rPr dirty="0" err="1"/>
              <a:t>textos</a:t>
            </a:r>
            <a:r>
              <a:rPr dirty="0"/>
              <a:t>.</a:t>
            </a:r>
          </a:p>
          <a:p>
            <a:pPr>
              <a:spcAft>
                <a:spcPts val="1000"/>
              </a:spcAft>
              <a:defRPr sz="1900"/>
            </a:pPr>
            <a:r>
              <a:rPr dirty="0"/>
              <a:t>Es </a:t>
            </a:r>
            <a:r>
              <a:rPr dirty="0" err="1"/>
              <a:t>útil</a:t>
            </a:r>
            <a:r>
              <a:rPr dirty="0"/>
              <a:t> para saber </a:t>
            </a:r>
            <a:r>
              <a:rPr dirty="0" err="1"/>
              <a:t>cuántos</a:t>
            </a:r>
            <a:r>
              <a:rPr dirty="0"/>
              <a:t> </a:t>
            </a:r>
            <a:r>
              <a:rPr dirty="0" err="1"/>
              <a:t>registros</a:t>
            </a:r>
            <a:r>
              <a:rPr dirty="0"/>
              <a:t> </a:t>
            </a:r>
            <a:r>
              <a:rPr dirty="0" err="1"/>
              <a:t>numéricos</a:t>
            </a:r>
            <a:r>
              <a:rPr dirty="0"/>
              <a:t> </a:t>
            </a:r>
            <a:r>
              <a:rPr dirty="0" err="1"/>
              <a:t>existen</a:t>
            </a:r>
            <a:r>
              <a:rPr dirty="0"/>
              <a:t> </a:t>
            </a:r>
            <a:r>
              <a:rPr dirty="0" err="1"/>
              <a:t>en</a:t>
            </a:r>
            <a:r>
              <a:rPr dirty="0"/>
              <a:t> un </a:t>
            </a:r>
            <a:r>
              <a:rPr dirty="0" err="1"/>
              <a:t>rango</a:t>
            </a:r>
            <a:r>
              <a:rPr dirty="0"/>
              <a:t>.</a:t>
            </a:r>
            <a:endParaRPr lang="es-CL" dirty="0"/>
          </a:p>
          <a:p>
            <a:pPr>
              <a:spcAft>
                <a:spcPts val="1000"/>
              </a:spcAft>
              <a:defRPr sz="1900"/>
            </a:pPr>
            <a:endParaRPr lang="es-CL" dirty="0"/>
          </a:p>
          <a:p>
            <a:pPr>
              <a:spcAft>
                <a:spcPts val="1000"/>
              </a:spcAft>
              <a:defRPr sz="1900"/>
            </a:pPr>
            <a:r>
              <a:rPr lang="es-CL" dirty="0"/>
              <a:t>Tenemos 5 edades:</a:t>
            </a:r>
          </a:p>
          <a:p>
            <a:pPr>
              <a:spcAft>
                <a:spcPts val="1000"/>
              </a:spcAft>
              <a:defRPr sz="1900"/>
            </a:pPr>
            <a:r>
              <a:rPr lang="es-CL" dirty="0"/>
              <a:t>25</a:t>
            </a:r>
          </a:p>
          <a:p>
            <a:pPr>
              <a:spcAft>
                <a:spcPts val="1000"/>
              </a:spcAft>
              <a:defRPr sz="1900"/>
            </a:pPr>
            <a:r>
              <a:rPr lang="es-CL" dirty="0"/>
              <a:t>34</a:t>
            </a:r>
          </a:p>
          <a:p>
            <a:pPr>
              <a:spcAft>
                <a:spcPts val="1000"/>
              </a:spcAft>
              <a:defRPr sz="1900"/>
            </a:pPr>
            <a:r>
              <a:rPr lang="es-CL" dirty="0"/>
              <a:t>29</a:t>
            </a:r>
          </a:p>
          <a:p>
            <a:pPr>
              <a:spcAft>
                <a:spcPts val="1000"/>
              </a:spcAft>
              <a:defRPr sz="1900"/>
            </a:pPr>
            <a:r>
              <a:rPr lang="es-CL" dirty="0"/>
              <a:t>41</a:t>
            </a:r>
          </a:p>
          <a:p>
            <a:pPr>
              <a:spcAft>
                <a:spcPts val="1000"/>
              </a:spcAft>
              <a:defRPr sz="1900"/>
            </a:pPr>
            <a:r>
              <a:rPr lang="es-CL" dirty="0"/>
              <a:t>36</a:t>
            </a:r>
          </a:p>
          <a:p>
            <a:pPr>
              <a:spcAft>
                <a:spcPts val="1000"/>
              </a:spcAft>
              <a:defRPr sz="1900"/>
            </a:pPr>
            <a:r>
              <a:rPr lang="es-CL" dirty="0"/>
              <a:t>¿Cuántas edades registradas hay?</a:t>
            </a:r>
          </a:p>
          <a:p>
            <a:pPr>
              <a:spcAft>
                <a:spcPts val="1000"/>
              </a:spcAft>
              <a:defRPr sz="1900"/>
            </a:pPr>
            <a:endParaRPr lang="es-CL" dirty="0"/>
          </a:p>
          <a:p>
            <a:pPr>
              <a:spcAft>
                <a:spcPts val="1000"/>
              </a:spcAft>
              <a:defRPr sz="1900"/>
            </a:pPr>
            <a:endParaRPr dirty="0"/>
          </a:p>
        </p:txBody>
      </p:sp>
      <p:sp>
        <p:nvSpPr>
          <p:cNvPr id="5" name="TextBox 4"/>
          <p:cNvSpPr txBox="1"/>
          <p:nvPr/>
        </p:nvSpPr>
        <p:spPr>
          <a:xfrm>
            <a:off x="7884942" y="1623060"/>
            <a:ext cx="4114800" cy="1280160"/>
          </a:xfrm>
          <a:prstGeom prst="rect">
            <a:avLst/>
          </a:prstGeom>
          <a:noFill/>
        </p:spPr>
        <p:txBody>
          <a:bodyPr wrap="square">
            <a:spAutoFit/>
          </a:bodyPr>
          <a:lstStyle/>
          <a:p>
            <a:pPr>
              <a:defRPr sz="1600" b="1"/>
            </a:pPr>
            <a:r>
              <a:rPr dirty="0" err="1"/>
              <a:t>Fórmula</a:t>
            </a:r>
            <a:endParaRPr dirty="0"/>
          </a:p>
          <a:p>
            <a:pPr>
              <a:defRPr sz="1800"/>
            </a:pPr>
            <a:r>
              <a:rPr dirty="0"/>
              <a:t>=CONTAR(A2:A1001)</a:t>
            </a:r>
          </a:p>
        </p:txBody>
      </p:sp>
      <p:sp>
        <p:nvSpPr>
          <p:cNvPr id="6" name="TextBox 5"/>
          <p:cNvSpPr txBox="1"/>
          <p:nvPr/>
        </p:nvSpPr>
        <p:spPr>
          <a:xfrm>
            <a:off x="7884942" y="3214241"/>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cantidad</a:t>
            </a:r>
            <a:r>
              <a:rPr dirty="0"/>
              <a:t> de ID de </a:t>
            </a:r>
            <a:r>
              <a:rPr dirty="0" err="1"/>
              <a:t>ventas</a:t>
            </a:r>
            <a:r>
              <a:rPr dirty="0"/>
              <a:t> </a:t>
            </a:r>
            <a:r>
              <a:rPr dirty="0" err="1"/>
              <a:t>registrados</a:t>
            </a:r>
            <a:r>
              <a:rPr dirty="0"/>
              <a:t>.</a:t>
            </a:r>
          </a:p>
        </p:txBody>
      </p:sp>
      <p:sp>
        <p:nvSpPr>
          <p:cNvPr id="7" name="CuadroTexto 6">
            <a:extLst>
              <a:ext uri="{FF2B5EF4-FFF2-40B4-BE49-F238E27FC236}">
                <a16:creationId xmlns:a16="http://schemas.microsoft.com/office/drawing/2014/main" id="{EF675269-AC8E-E504-2C9E-79BB4E21574E}"/>
              </a:ext>
            </a:extLst>
          </p:cNvPr>
          <p:cNvSpPr txBox="1"/>
          <p:nvPr/>
        </p:nvSpPr>
        <p:spPr>
          <a:xfrm>
            <a:off x="4498848" y="2876843"/>
            <a:ext cx="3072384" cy="2862322"/>
          </a:xfrm>
          <a:prstGeom prst="rect">
            <a:avLst/>
          </a:prstGeom>
          <a:noFill/>
        </p:spPr>
        <p:txBody>
          <a:bodyPr wrap="square" rtlCol="0">
            <a:spAutoFit/>
          </a:bodyPr>
          <a:lstStyle/>
          <a:p>
            <a:r>
              <a:rPr lang="fi-FI" dirty="0"/>
              <a:t>EJ:</a:t>
            </a:r>
          </a:p>
          <a:p>
            <a:r>
              <a:rPr lang="fi-FI" dirty="0"/>
              <a:t>25</a:t>
            </a:r>
          </a:p>
          <a:p>
            <a:r>
              <a:rPr lang="fi-FI" dirty="0"/>
              <a:t>Juan</a:t>
            </a:r>
          </a:p>
          <a:p>
            <a:r>
              <a:rPr lang="fi-FI" dirty="0"/>
              <a:t>30</a:t>
            </a:r>
          </a:p>
          <a:p>
            <a:r>
              <a:rPr lang="fi-FI" dirty="0"/>
              <a:t>Pedro</a:t>
            </a:r>
          </a:p>
          <a:p>
            <a:r>
              <a:rPr lang="fi-FI" dirty="0"/>
              <a:t>40</a:t>
            </a:r>
          </a:p>
          <a:p>
            <a:r>
              <a:rPr lang="es-CL" dirty="0"/>
              <a:t>¿Cuántas edades registradas hay?</a:t>
            </a:r>
          </a:p>
          <a:p>
            <a:endParaRPr lang="fi-FI" dirty="0"/>
          </a:p>
          <a:p>
            <a:endParaRPr lang="es-CL"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7. CONTAR.SI</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Cuenta las celdas que cumplen un criterio.</a:t>
            </a:r>
          </a:p>
        </p:txBody>
      </p:sp>
      <p:sp>
        <p:nvSpPr>
          <p:cNvPr id="4" name="TextBox 3"/>
          <p:cNvSpPr txBox="1"/>
          <p:nvPr/>
        </p:nvSpPr>
        <p:spPr>
          <a:xfrm>
            <a:off x="731520" y="1508760"/>
            <a:ext cx="7531998" cy="4837222"/>
          </a:xfrm>
          <a:prstGeom prst="rect">
            <a:avLst/>
          </a:prstGeom>
          <a:noFill/>
        </p:spPr>
        <p:txBody>
          <a:bodyPr wrap="none">
            <a:spAutoFit/>
          </a:bodyPr>
          <a:lstStyle/>
          <a:p>
            <a:pPr>
              <a:spcAft>
                <a:spcPts val="1000"/>
              </a:spcAft>
              <a:defRPr sz="1900"/>
            </a:pPr>
            <a:r>
              <a:rPr dirty="0" err="1"/>
              <a:t>Permite</a:t>
            </a:r>
            <a:r>
              <a:rPr dirty="0"/>
              <a:t> responder </a:t>
            </a:r>
            <a:r>
              <a:rPr dirty="0" err="1"/>
              <a:t>preguntas</a:t>
            </a:r>
            <a:r>
              <a:rPr dirty="0"/>
              <a:t> </a:t>
            </a:r>
            <a:r>
              <a:rPr dirty="0" err="1"/>
              <a:t>como</a:t>
            </a:r>
            <a:r>
              <a:rPr dirty="0"/>
              <a:t>: ¿</a:t>
            </a:r>
            <a:r>
              <a:rPr dirty="0" err="1"/>
              <a:t>cuántas</a:t>
            </a:r>
            <a:r>
              <a:rPr dirty="0"/>
              <a:t> </a:t>
            </a:r>
            <a:r>
              <a:rPr dirty="0" err="1"/>
              <a:t>ventas</a:t>
            </a:r>
            <a:r>
              <a:rPr dirty="0"/>
              <a:t> </a:t>
            </a:r>
            <a:r>
              <a:rPr dirty="0" err="1"/>
              <a:t>fueron</a:t>
            </a:r>
            <a:r>
              <a:rPr dirty="0"/>
              <a:t> </a:t>
            </a:r>
            <a:r>
              <a:rPr dirty="0" err="1"/>
              <a:t>completadas</a:t>
            </a:r>
            <a:r>
              <a:rPr dirty="0"/>
              <a:t>?</a:t>
            </a:r>
          </a:p>
          <a:p>
            <a:pPr>
              <a:spcAft>
                <a:spcPts val="1000"/>
              </a:spcAft>
              <a:defRPr sz="1900"/>
            </a:pPr>
            <a:r>
              <a:rPr dirty="0"/>
              <a:t>El </a:t>
            </a:r>
            <a:r>
              <a:rPr dirty="0" err="1"/>
              <a:t>criterio</a:t>
            </a:r>
            <a:r>
              <a:rPr dirty="0"/>
              <a:t> </a:t>
            </a:r>
            <a:r>
              <a:rPr dirty="0" err="1"/>
              <a:t>puede</a:t>
            </a:r>
            <a:r>
              <a:rPr dirty="0"/>
              <a:t> ser </a:t>
            </a:r>
            <a:r>
              <a:rPr dirty="0" err="1"/>
              <a:t>texto</a:t>
            </a:r>
            <a:r>
              <a:rPr dirty="0"/>
              <a:t>, </a:t>
            </a:r>
            <a:r>
              <a:rPr dirty="0" err="1"/>
              <a:t>número</a:t>
            </a:r>
            <a:r>
              <a:rPr dirty="0"/>
              <a:t> o </a:t>
            </a:r>
            <a:r>
              <a:rPr dirty="0" err="1"/>
              <a:t>una</a:t>
            </a:r>
            <a:r>
              <a:rPr dirty="0"/>
              <a:t> </a:t>
            </a:r>
            <a:r>
              <a:rPr dirty="0" err="1"/>
              <a:t>condición</a:t>
            </a:r>
            <a:r>
              <a:rPr dirty="0"/>
              <a:t>.</a:t>
            </a:r>
            <a:endParaRPr lang="es-CL" dirty="0"/>
          </a:p>
          <a:p>
            <a:pPr>
              <a:spcAft>
                <a:spcPts val="1000"/>
              </a:spcAft>
              <a:defRPr sz="1900"/>
            </a:pPr>
            <a:endParaRPr lang="es-CL" dirty="0"/>
          </a:p>
          <a:p>
            <a:r>
              <a:rPr lang="es-CL" dirty="0"/>
              <a:t>Tenemos:</a:t>
            </a:r>
          </a:p>
          <a:p>
            <a:pPr lvl="0"/>
            <a:r>
              <a:rPr lang="es-CL" dirty="0"/>
              <a:t>Ana → Arica </a:t>
            </a:r>
          </a:p>
          <a:p>
            <a:pPr lvl="0"/>
            <a:r>
              <a:rPr lang="es-CL" dirty="0"/>
              <a:t>Luis → Iquique </a:t>
            </a:r>
          </a:p>
          <a:p>
            <a:pPr lvl="0"/>
            <a:r>
              <a:rPr lang="es-CL" dirty="0"/>
              <a:t>Carla → Arica </a:t>
            </a:r>
          </a:p>
          <a:p>
            <a:pPr lvl="0"/>
            <a:r>
              <a:rPr lang="es-CL" dirty="0"/>
              <a:t>Pedro → Antofagasta </a:t>
            </a:r>
          </a:p>
          <a:p>
            <a:pPr lvl="0"/>
            <a:r>
              <a:rPr lang="es-CL" dirty="0"/>
              <a:t>María → Arica</a:t>
            </a:r>
          </a:p>
          <a:p>
            <a:pPr lvl="0"/>
            <a:endParaRPr lang="es-CL" dirty="0"/>
          </a:p>
          <a:p>
            <a:pPr lvl="0"/>
            <a:r>
              <a:rPr lang="it-IT" dirty="0"/>
              <a:t>=CONTAR.SI(D2:D6;"Arica")</a:t>
            </a:r>
          </a:p>
          <a:p>
            <a:pPr lvl="0"/>
            <a:endParaRPr lang="it-IT" dirty="0"/>
          </a:p>
          <a:p>
            <a:pPr lvl="0"/>
            <a:r>
              <a:rPr lang="it-IT" dirty="0"/>
              <a:t>Resultado? Cuanto es</a:t>
            </a:r>
            <a:endParaRPr lang="es-CL" dirty="0"/>
          </a:p>
          <a:p>
            <a:pPr>
              <a:spcAft>
                <a:spcPts val="1000"/>
              </a:spcAft>
              <a:defRPr sz="1900"/>
            </a:pPr>
            <a:endParaRPr lang="es-CL" dirty="0"/>
          </a:p>
          <a:p>
            <a:pPr>
              <a:spcAft>
                <a:spcPts val="1000"/>
              </a:spcAft>
              <a:defRPr sz="1900"/>
            </a:pPr>
            <a:endParaRPr dirty="0"/>
          </a:p>
        </p:txBody>
      </p:sp>
      <p:sp>
        <p:nvSpPr>
          <p:cNvPr id="5" name="TextBox 4"/>
          <p:cNvSpPr txBox="1"/>
          <p:nvPr/>
        </p:nvSpPr>
        <p:spPr>
          <a:xfrm>
            <a:off x="7452360" y="2813447"/>
            <a:ext cx="4114800" cy="615553"/>
          </a:xfrm>
          <a:prstGeom prst="rect">
            <a:avLst/>
          </a:prstGeom>
          <a:noFill/>
        </p:spPr>
        <p:txBody>
          <a:bodyPr wrap="square">
            <a:spAutoFit/>
          </a:bodyPr>
          <a:lstStyle/>
          <a:p>
            <a:pPr>
              <a:defRPr sz="1600" b="1"/>
            </a:pPr>
            <a:r>
              <a:rPr dirty="0" err="1"/>
              <a:t>Fórmula</a:t>
            </a:r>
            <a:endParaRPr dirty="0"/>
          </a:p>
          <a:p>
            <a:pPr>
              <a:defRPr sz="1800"/>
            </a:pPr>
            <a:r>
              <a:rPr lang="es-CL" dirty="0"/>
              <a:t>=CONTAR.SI(</a:t>
            </a:r>
            <a:r>
              <a:rPr lang="es-CL" dirty="0" err="1"/>
              <a:t>rango;criterio</a:t>
            </a:r>
            <a:r>
              <a:rPr lang="es-CL" dirty="0"/>
              <a:t>)</a:t>
            </a:r>
            <a:endParaRPr dirty="0"/>
          </a:p>
        </p:txBody>
      </p:sp>
      <p:sp>
        <p:nvSpPr>
          <p:cNvPr id="6" name="TextBox 5"/>
          <p:cNvSpPr txBox="1"/>
          <p:nvPr/>
        </p:nvSpPr>
        <p:spPr>
          <a:xfrm>
            <a:off x="7345680" y="4344853"/>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contar</a:t>
            </a:r>
            <a:r>
              <a:rPr dirty="0"/>
              <a:t> </a:t>
            </a:r>
            <a:r>
              <a:rPr dirty="0" err="1"/>
              <a:t>ventas</a:t>
            </a:r>
            <a:r>
              <a:rPr dirty="0"/>
              <a:t> </a:t>
            </a:r>
            <a:r>
              <a:rPr dirty="0" err="1"/>
              <a:t>cuyo</a:t>
            </a:r>
            <a:r>
              <a:rPr dirty="0"/>
              <a:t> Estado sea </a:t>
            </a:r>
            <a:r>
              <a:rPr dirty="0" err="1"/>
              <a:t>Completada</a:t>
            </a:r>
            <a:r>
              <a:rPr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8. CONTAR.SI con condiciones</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Cuenta valores que cumplen una condición numérica.</a:t>
            </a:r>
          </a:p>
        </p:txBody>
      </p:sp>
      <p:sp>
        <p:nvSpPr>
          <p:cNvPr id="4" name="TextBox 3"/>
          <p:cNvSpPr txBox="1"/>
          <p:nvPr/>
        </p:nvSpPr>
        <p:spPr>
          <a:xfrm>
            <a:off x="731520" y="1508760"/>
            <a:ext cx="6867649" cy="4124206"/>
          </a:xfrm>
          <a:prstGeom prst="rect">
            <a:avLst/>
          </a:prstGeom>
          <a:noFill/>
        </p:spPr>
        <p:txBody>
          <a:bodyPr wrap="none">
            <a:spAutoFit/>
          </a:bodyPr>
          <a:lstStyle/>
          <a:p>
            <a:pPr>
              <a:spcAft>
                <a:spcPts val="1000"/>
              </a:spcAft>
              <a:defRPr sz="1900"/>
            </a:pPr>
            <a:r>
              <a:rPr dirty="0"/>
              <a:t>Se </a:t>
            </a:r>
            <a:r>
              <a:rPr dirty="0" err="1"/>
              <a:t>pueden</a:t>
            </a:r>
            <a:r>
              <a:rPr dirty="0"/>
              <a:t> usar </a:t>
            </a:r>
            <a:r>
              <a:rPr dirty="0" err="1"/>
              <a:t>operadores</a:t>
            </a:r>
            <a:r>
              <a:rPr dirty="0"/>
              <a:t> </a:t>
            </a:r>
            <a:r>
              <a:rPr dirty="0" err="1"/>
              <a:t>como</a:t>
            </a:r>
            <a:r>
              <a:rPr dirty="0"/>
              <a:t> &gt;, &lt;, &gt;=, &lt;= y =.</a:t>
            </a:r>
          </a:p>
          <a:p>
            <a:pPr>
              <a:spcAft>
                <a:spcPts val="1000"/>
              </a:spcAft>
              <a:defRPr sz="1900"/>
            </a:pPr>
            <a:r>
              <a:rPr dirty="0"/>
              <a:t>Sirve para </a:t>
            </a:r>
            <a:r>
              <a:rPr dirty="0" err="1"/>
              <a:t>segmentar</a:t>
            </a:r>
            <a:r>
              <a:rPr dirty="0"/>
              <a:t> </a:t>
            </a:r>
            <a:r>
              <a:rPr dirty="0" err="1"/>
              <a:t>rápidamente</a:t>
            </a:r>
            <a:r>
              <a:rPr dirty="0"/>
              <a:t> </a:t>
            </a:r>
            <a:r>
              <a:rPr dirty="0" err="1"/>
              <a:t>los</a:t>
            </a:r>
            <a:r>
              <a:rPr dirty="0"/>
              <a:t> </a:t>
            </a:r>
            <a:r>
              <a:rPr dirty="0" err="1"/>
              <a:t>datos</a:t>
            </a:r>
            <a:r>
              <a:rPr dirty="0"/>
              <a:t>.</a:t>
            </a:r>
            <a:endParaRPr lang="es-CL" dirty="0"/>
          </a:p>
          <a:p>
            <a:pPr>
              <a:spcAft>
                <a:spcPts val="1000"/>
              </a:spcAft>
              <a:defRPr sz="1900"/>
            </a:pPr>
            <a:endParaRPr lang="es-CL" dirty="0"/>
          </a:p>
          <a:p>
            <a:pPr lvl="0"/>
            <a:r>
              <a:rPr lang="es-CL" dirty="0"/>
              <a:t>contar cuántas veces aparece la palabra "manzanas" en el rango A2:A5:</a:t>
            </a:r>
            <a:br>
              <a:rPr lang="es-CL" dirty="0"/>
            </a:br>
            <a:r>
              <a:rPr lang="es-CL" dirty="0"/>
              <a:t>=CONTAR.SI(A2:A5;"manzanas") </a:t>
            </a:r>
          </a:p>
          <a:p>
            <a:pPr lvl="0"/>
            <a:endParaRPr lang="es-CL" dirty="0"/>
          </a:p>
          <a:p>
            <a:pPr lvl="0"/>
            <a:r>
              <a:rPr lang="es-CL" dirty="0"/>
              <a:t>Contar celdas con valores mayores a 55 en B2:B5:</a:t>
            </a:r>
            <a:br>
              <a:rPr lang="es-CL" dirty="0"/>
            </a:br>
            <a:r>
              <a:rPr lang="es-CL" dirty="0"/>
              <a:t>=CONTAR.SI(B2:B5;"&gt;55") </a:t>
            </a:r>
          </a:p>
          <a:p>
            <a:pPr lvl="0"/>
            <a:endParaRPr lang="es-CL" dirty="0"/>
          </a:p>
          <a:p>
            <a:pPr lvl="0"/>
            <a:r>
              <a:rPr lang="es-CL" dirty="0"/>
              <a:t>Contar celdas que no sean iguales a 75:</a:t>
            </a:r>
            <a:br>
              <a:rPr lang="es-CL" dirty="0"/>
            </a:br>
            <a:r>
              <a:rPr lang="es-CL" dirty="0"/>
              <a:t>=CONTAR.SI(B2:B5;"&lt;&gt;75") → resultado: 3 </a:t>
            </a:r>
          </a:p>
          <a:p>
            <a:br>
              <a:rPr lang="es-CL" dirty="0"/>
            </a:br>
            <a:endParaRPr dirty="0"/>
          </a:p>
        </p:txBody>
      </p:sp>
      <p:sp>
        <p:nvSpPr>
          <p:cNvPr id="5" name="TextBox 4"/>
          <p:cNvSpPr txBox="1"/>
          <p:nvPr/>
        </p:nvSpPr>
        <p:spPr>
          <a:xfrm>
            <a:off x="7406640" y="1600200"/>
            <a:ext cx="4114800" cy="1280160"/>
          </a:xfrm>
          <a:prstGeom prst="rect">
            <a:avLst/>
          </a:prstGeom>
          <a:noFill/>
        </p:spPr>
        <p:txBody>
          <a:bodyPr wrap="square">
            <a:spAutoFit/>
          </a:bodyPr>
          <a:lstStyle/>
          <a:p>
            <a:pPr>
              <a:defRPr sz="1600" b="1"/>
            </a:pPr>
            <a:r>
              <a:rPr dirty="0" err="1"/>
              <a:t>Fórmula</a:t>
            </a:r>
            <a:endParaRPr dirty="0"/>
          </a:p>
          <a:p>
            <a:pPr>
              <a:defRPr sz="1800"/>
            </a:pPr>
            <a:r>
              <a:rPr dirty="0"/>
              <a:t>=CONTAR.SI(G2:G1001;"&gt;5")</a:t>
            </a:r>
          </a:p>
        </p:txBody>
      </p:sp>
      <p:sp>
        <p:nvSpPr>
          <p:cNvPr id="6" name="TextBox 5"/>
          <p:cNvSpPr txBox="1"/>
          <p:nvPr/>
        </p:nvSpPr>
        <p:spPr>
          <a:xfrm>
            <a:off x="7406640" y="3063240"/>
            <a:ext cx="4114800" cy="2194560"/>
          </a:xfrm>
          <a:prstGeom prst="rect">
            <a:avLst/>
          </a:prstGeom>
          <a:noFill/>
        </p:spPr>
        <p:txBody>
          <a:bodyPr wrap="square">
            <a:spAutoFit/>
          </a:bodyPr>
          <a:lstStyle/>
          <a:p>
            <a:pPr>
              <a:defRPr sz="1600" b="1"/>
            </a:pPr>
            <a:r>
              <a:t>Aplicación</a:t>
            </a:r>
          </a:p>
          <a:p>
            <a:pPr>
              <a:defRPr sz="1700"/>
            </a:pPr>
            <a:r>
              <a:t>Ej.: contar ventas con más de 5 unidades.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97180"/>
            <a:ext cx="2851293" cy="523220"/>
          </a:xfrm>
          <a:prstGeom prst="rect">
            <a:avLst/>
          </a:prstGeom>
          <a:noFill/>
        </p:spPr>
        <p:txBody>
          <a:bodyPr wrap="none">
            <a:spAutoFit/>
          </a:bodyPr>
          <a:lstStyle/>
          <a:p>
            <a:pPr>
              <a:defRPr sz="2800" b="1"/>
            </a:pPr>
            <a:r>
              <a:rPr dirty="0"/>
              <a:t>11. PROMEDIO.SI</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Calcula el promedio de una variable solo para registros que cumplen un criterio.</a:t>
            </a:r>
          </a:p>
        </p:txBody>
      </p:sp>
      <p:sp>
        <p:nvSpPr>
          <p:cNvPr id="4" name="TextBox 3"/>
          <p:cNvSpPr txBox="1"/>
          <p:nvPr/>
        </p:nvSpPr>
        <p:spPr>
          <a:xfrm>
            <a:off x="407963" y="1508760"/>
            <a:ext cx="6838026" cy="4139595"/>
          </a:xfrm>
          <a:prstGeom prst="rect">
            <a:avLst/>
          </a:prstGeom>
          <a:noFill/>
        </p:spPr>
        <p:txBody>
          <a:bodyPr wrap="none">
            <a:spAutoFit/>
          </a:bodyPr>
          <a:lstStyle/>
          <a:p>
            <a:pPr>
              <a:spcAft>
                <a:spcPts val="1000"/>
              </a:spcAft>
              <a:defRPr sz="1900"/>
            </a:pPr>
            <a:r>
              <a:rPr dirty="0"/>
              <a:t>Tiene </a:t>
            </a:r>
            <a:r>
              <a:rPr dirty="0" err="1"/>
              <a:t>tres</a:t>
            </a:r>
            <a:r>
              <a:rPr dirty="0"/>
              <a:t> </a:t>
            </a:r>
            <a:r>
              <a:rPr dirty="0" err="1"/>
              <a:t>elementos</a:t>
            </a:r>
            <a:r>
              <a:rPr dirty="0"/>
              <a:t>: </a:t>
            </a:r>
            <a:r>
              <a:rPr dirty="0" err="1"/>
              <a:t>rango</a:t>
            </a:r>
            <a:r>
              <a:rPr dirty="0"/>
              <a:t> del </a:t>
            </a:r>
            <a:r>
              <a:rPr dirty="0" err="1"/>
              <a:t>criterio</a:t>
            </a:r>
            <a:r>
              <a:rPr dirty="0"/>
              <a:t>, </a:t>
            </a:r>
            <a:r>
              <a:rPr dirty="0" err="1"/>
              <a:t>criterio</a:t>
            </a:r>
            <a:r>
              <a:rPr dirty="0"/>
              <a:t> y </a:t>
            </a:r>
            <a:r>
              <a:rPr dirty="0" err="1"/>
              <a:t>rango</a:t>
            </a:r>
            <a:r>
              <a:rPr dirty="0"/>
              <a:t> </a:t>
            </a:r>
            <a:r>
              <a:rPr dirty="0" err="1"/>
              <a:t>promedio</a:t>
            </a:r>
            <a:r>
              <a:rPr dirty="0"/>
              <a:t>.</a:t>
            </a:r>
          </a:p>
          <a:p>
            <a:pPr>
              <a:spcAft>
                <a:spcPts val="1000"/>
              </a:spcAft>
              <a:defRPr sz="1900"/>
            </a:pPr>
            <a:r>
              <a:rPr dirty="0"/>
              <a:t>Ideal para </a:t>
            </a:r>
            <a:r>
              <a:rPr dirty="0" err="1"/>
              <a:t>comparar</a:t>
            </a:r>
            <a:r>
              <a:rPr dirty="0"/>
              <a:t> </a:t>
            </a:r>
            <a:r>
              <a:rPr dirty="0" err="1"/>
              <a:t>ciudades</a:t>
            </a:r>
            <a:r>
              <a:rPr dirty="0"/>
              <a:t>.</a:t>
            </a:r>
            <a:endParaRPr lang="es-CL" dirty="0"/>
          </a:p>
          <a:p>
            <a:pPr>
              <a:spcAft>
                <a:spcPts val="1000"/>
              </a:spcAft>
              <a:defRPr sz="1900"/>
            </a:pPr>
            <a:endParaRPr lang="es-CL" dirty="0"/>
          </a:p>
          <a:p>
            <a:r>
              <a:rPr lang="es-CL" dirty="0"/>
              <a:t>Tenemos:</a:t>
            </a:r>
          </a:p>
          <a:p>
            <a:r>
              <a:rPr lang="es-CL" dirty="0"/>
              <a:t>D2:D6</a:t>
            </a:r>
          </a:p>
          <a:p>
            <a:r>
              <a:rPr lang="es-CL" dirty="0"/>
              <a:t>→ ¿Dónde buscaré la ciudad?</a:t>
            </a:r>
          </a:p>
          <a:p>
            <a:r>
              <a:rPr lang="es-CL" dirty="0"/>
              <a:t>"Arica"</a:t>
            </a:r>
          </a:p>
          <a:p>
            <a:r>
              <a:rPr lang="es-CL" dirty="0"/>
              <a:t>→ ¿Qué ciudad estoy buscando?</a:t>
            </a:r>
          </a:p>
          <a:p>
            <a:r>
              <a:rPr lang="es-CL" dirty="0"/>
              <a:t>F2:F6</a:t>
            </a:r>
          </a:p>
          <a:p>
            <a:r>
              <a:rPr lang="es-CL" dirty="0"/>
              <a:t>→ ¿Qué valores quiero promediar?</a:t>
            </a:r>
          </a:p>
          <a:p>
            <a:r>
              <a:rPr lang="es-CL" dirty="0"/>
              <a:t>Regla:</a:t>
            </a:r>
          </a:p>
          <a:p>
            <a:r>
              <a:rPr lang="es-CL" dirty="0"/>
              <a:t>Buscar una condición → seleccionar los valores que quiero promediar</a:t>
            </a:r>
            <a:r>
              <a:rPr lang="es-CL" b="1" dirty="0"/>
              <a:t>.</a:t>
            </a:r>
            <a:endParaRPr lang="es-CL" dirty="0"/>
          </a:p>
          <a:p>
            <a:pPr>
              <a:spcAft>
                <a:spcPts val="1000"/>
              </a:spcAft>
              <a:defRPr sz="1900"/>
            </a:pPr>
            <a:endParaRPr dirty="0"/>
          </a:p>
        </p:txBody>
      </p:sp>
      <p:sp>
        <p:nvSpPr>
          <p:cNvPr id="5" name="TextBox 4"/>
          <p:cNvSpPr txBox="1"/>
          <p:nvPr/>
        </p:nvSpPr>
        <p:spPr>
          <a:xfrm>
            <a:off x="7406640" y="1600200"/>
            <a:ext cx="4544728" cy="2277547"/>
          </a:xfrm>
          <a:prstGeom prst="rect">
            <a:avLst/>
          </a:prstGeom>
          <a:noFill/>
        </p:spPr>
        <p:txBody>
          <a:bodyPr wrap="square">
            <a:spAutoFit/>
          </a:bodyPr>
          <a:lstStyle/>
          <a:p>
            <a:pPr>
              <a:defRPr sz="1600" b="1"/>
            </a:pPr>
            <a:r>
              <a:rPr dirty="0" err="1"/>
              <a:t>Fórmula</a:t>
            </a:r>
            <a:endParaRPr dirty="0"/>
          </a:p>
          <a:p>
            <a:pPr>
              <a:defRPr sz="1800"/>
            </a:pPr>
            <a:r>
              <a:rPr lang="it-IT" dirty="0"/>
              <a:t>=PROMEDIO.SI(rango_criterio;criterio;rango_promedio)</a:t>
            </a:r>
          </a:p>
          <a:p>
            <a:pPr>
              <a:defRPr sz="1800"/>
            </a:pPr>
            <a:endParaRPr lang="es-CL" dirty="0"/>
          </a:p>
          <a:p>
            <a:pPr>
              <a:defRPr sz="1800"/>
            </a:pPr>
            <a:r>
              <a:rPr lang="es-CL" dirty="0"/>
              <a:t>¿Cuál es la satisfacción promedio de los clientes de Arica?</a:t>
            </a:r>
          </a:p>
          <a:p>
            <a:pPr>
              <a:defRPr sz="1800"/>
            </a:pPr>
            <a:endParaRPr lang="es-CL" dirty="0"/>
          </a:p>
          <a:p>
            <a:pPr>
              <a:defRPr sz="1800"/>
            </a:pPr>
            <a:r>
              <a:rPr dirty="0"/>
              <a:t>=PROMEDIO.SI(</a:t>
            </a:r>
            <a:r>
              <a:rPr lang="es-CL" dirty="0"/>
              <a:t>D2:D6</a:t>
            </a:r>
            <a:r>
              <a:rPr dirty="0"/>
              <a:t>;"Arica";</a:t>
            </a:r>
            <a:r>
              <a:rPr lang="es-CL" dirty="0"/>
              <a:t> F2:F6</a:t>
            </a:r>
            <a:r>
              <a:rPr dirty="0"/>
              <a:t>)</a:t>
            </a:r>
          </a:p>
        </p:txBody>
      </p:sp>
      <p:sp>
        <p:nvSpPr>
          <p:cNvPr id="6" name="TextBox 5"/>
          <p:cNvSpPr txBox="1"/>
          <p:nvPr/>
        </p:nvSpPr>
        <p:spPr>
          <a:xfrm>
            <a:off x="7533250" y="4663440"/>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promedio</a:t>
            </a:r>
            <a:r>
              <a:rPr dirty="0"/>
              <a:t> de </a:t>
            </a:r>
            <a:r>
              <a:rPr dirty="0" err="1"/>
              <a:t>ventas</a:t>
            </a:r>
            <a:r>
              <a:rPr dirty="0"/>
              <a:t> </a:t>
            </a:r>
            <a:r>
              <a:rPr dirty="0" err="1"/>
              <a:t>realizadas</a:t>
            </a:r>
            <a:r>
              <a:rPr dirty="0"/>
              <a:t> </a:t>
            </a:r>
            <a:r>
              <a:rPr dirty="0" err="1"/>
              <a:t>en</a:t>
            </a:r>
            <a:r>
              <a:rPr dirty="0"/>
              <a:t> Arica.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13. MAX.SI.CONJUNTO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Devuelve el máximo valor que cumple uno o varios criterios.</a:t>
            </a:r>
          </a:p>
        </p:txBody>
      </p:sp>
      <p:sp>
        <p:nvSpPr>
          <p:cNvPr id="4" name="TextBox 3"/>
          <p:cNvSpPr txBox="1"/>
          <p:nvPr/>
        </p:nvSpPr>
        <p:spPr>
          <a:xfrm>
            <a:off x="731520" y="1508760"/>
            <a:ext cx="6675120" cy="2395528"/>
          </a:xfrm>
          <a:prstGeom prst="rect">
            <a:avLst/>
          </a:prstGeom>
          <a:noFill/>
        </p:spPr>
        <p:txBody>
          <a:bodyPr wrap="square">
            <a:spAutoFit/>
          </a:bodyPr>
          <a:lstStyle/>
          <a:p>
            <a:pPr>
              <a:spcAft>
                <a:spcPts val="1000"/>
              </a:spcAft>
              <a:defRPr sz="1900"/>
            </a:pPr>
            <a:r>
              <a:rPr lang="es-CL" sz="1900" dirty="0"/>
              <a:t>La función </a:t>
            </a:r>
            <a:r>
              <a:rPr lang="es-CL" sz="1900" b="1" dirty="0"/>
              <a:t>MAX.SI.CONJUNTO</a:t>
            </a:r>
            <a:r>
              <a:rPr lang="es-CL" sz="1900" dirty="0"/>
              <a:t> se utiliza para identificar el valor más alto dentro de un rango de celdas que cumpla con condiciones definidas por el usuario, lo que la hace ideal para análisis de datos avanzados, reportes financieros, evaluaciones de rendimiento y estudios estadísticos</a:t>
            </a:r>
          </a:p>
          <a:p>
            <a:pPr>
              <a:spcAft>
                <a:spcPts val="1000"/>
              </a:spcAft>
              <a:defRPr sz="1900"/>
            </a:pPr>
            <a:endParaRPr lang="es-CL" sz="1900" dirty="0"/>
          </a:p>
          <a:p>
            <a:pPr>
              <a:spcAft>
                <a:spcPts val="1000"/>
              </a:spcAft>
              <a:defRPr sz="1900"/>
            </a:pPr>
            <a:endParaRPr dirty="0"/>
          </a:p>
        </p:txBody>
      </p:sp>
      <p:sp>
        <p:nvSpPr>
          <p:cNvPr id="5" name="TextBox 4"/>
          <p:cNvSpPr txBox="1"/>
          <p:nvPr/>
        </p:nvSpPr>
        <p:spPr>
          <a:xfrm>
            <a:off x="7452360" y="1207569"/>
            <a:ext cx="4114800" cy="2000548"/>
          </a:xfrm>
          <a:prstGeom prst="rect">
            <a:avLst/>
          </a:prstGeom>
          <a:noFill/>
        </p:spPr>
        <p:txBody>
          <a:bodyPr wrap="square">
            <a:spAutoFit/>
          </a:bodyPr>
          <a:lstStyle/>
          <a:p>
            <a:pPr>
              <a:defRPr sz="1600" b="1"/>
            </a:pPr>
            <a:r>
              <a:rPr dirty="0" err="1"/>
              <a:t>Fórmula</a:t>
            </a:r>
            <a:endParaRPr dirty="0"/>
          </a:p>
          <a:p>
            <a:pPr>
              <a:defRPr sz="1800"/>
            </a:pPr>
            <a:r>
              <a:rPr dirty="0"/>
              <a:t>=</a:t>
            </a:r>
            <a:r>
              <a:rPr lang="es-CL" dirty="0"/>
              <a:t>MAX.SI.CONJUNTO(</a:t>
            </a:r>
            <a:r>
              <a:rPr lang="es-CL" dirty="0" err="1"/>
              <a:t>rango_max</a:t>
            </a:r>
            <a:r>
              <a:rPr lang="es-CL" dirty="0"/>
              <a:t>, rango_criterio1, criterio1, [rango_criterio2, criterio2], ...)</a:t>
            </a:r>
          </a:p>
          <a:p>
            <a:pPr>
              <a:defRPr sz="1800"/>
            </a:pPr>
            <a:endParaRPr lang="es-CL" dirty="0"/>
          </a:p>
          <a:p>
            <a:pPr>
              <a:defRPr sz="1800"/>
            </a:pPr>
            <a:r>
              <a:rPr dirty="0"/>
              <a:t>MAX.SI.CONJUNTO(J2:J1001;D2:D1001;"Arica")</a:t>
            </a:r>
          </a:p>
        </p:txBody>
      </p:sp>
      <p:sp>
        <p:nvSpPr>
          <p:cNvPr id="6" name="TextBox 5"/>
          <p:cNvSpPr txBox="1"/>
          <p:nvPr/>
        </p:nvSpPr>
        <p:spPr>
          <a:xfrm>
            <a:off x="7452360" y="3455168"/>
            <a:ext cx="4114800" cy="2169825"/>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mayor </a:t>
            </a:r>
            <a:r>
              <a:rPr dirty="0" err="1"/>
              <a:t>venta</a:t>
            </a:r>
            <a:r>
              <a:rPr dirty="0"/>
              <a:t> </a:t>
            </a:r>
            <a:r>
              <a:rPr dirty="0" err="1"/>
              <a:t>realizada</a:t>
            </a:r>
            <a:r>
              <a:rPr dirty="0"/>
              <a:t> </a:t>
            </a:r>
            <a:r>
              <a:rPr dirty="0" err="1"/>
              <a:t>en</a:t>
            </a:r>
            <a:r>
              <a:rPr dirty="0"/>
              <a:t> Arica.</a:t>
            </a:r>
            <a:endParaRPr lang="es-CL" dirty="0"/>
          </a:p>
          <a:p>
            <a:pPr>
              <a:defRPr sz="1700"/>
            </a:pPr>
            <a:endParaRPr lang="es-CL" dirty="0"/>
          </a:p>
          <a:p>
            <a:pPr>
              <a:defRPr sz="1700"/>
            </a:pPr>
            <a:endParaRPr lang="es-CL" dirty="0"/>
          </a:p>
          <a:p>
            <a:pPr>
              <a:defRPr sz="1700"/>
            </a:pPr>
            <a:endParaRPr lang="es-CL" dirty="0"/>
          </a:p>
          <a:p>
            <a:pPr>
              <a:defRPr sz="1700"/>
            </a:pPr>
            <a:endParaRPr lang="es-CL" dirty="0"/>
          </a:p>
          <a:p>
            <a:pPr>
              <a:defRPr sz="1700"/>
            </a:pPr>
            <a:r>
              <a:rPr lang="es-CL" sz="1700" dirty="0"/>
              <a:t>El resultado será </a:t>
            </a:r>
            <a:r>
              <a:rPr lang="es-CL" sz="1700" b="1" dirty="0"/>
              <a:t>800</a:t>
            </a:r>
            <a:r>
              <a:rPr lang="es-CL" sz="1700" dirty="0"/>
              <a:t>, ya que es la venta más alta que cumple ambos criterios</a:t>
            </a:r>
            <a:endParaRPr dirty="0"/>
          </a:p>
        </p:txBody>
      </p:sp>
      <p:graphicFrame>
        <p:nvGraphicFramePr>
          <p:cNvPr id="10" name="Tabla 9">
            <a:extLst>
              <a:ext uri="{FF2B5EF4-FFF2-40B4-BE49-F238E27FC236}">
                <a16:creationId xmlns:a16="http://schemas.microsoft.com/office/drawing/2014/main" id="{0B7E69EB-B631-0221-EE08-2CE85AF5909D}"/>
              </a:ext>
            </a:extLst>
          </p:cNvPr>
          <p:cNvGraphicFramePr>
            <a:graphicFrameLocks noGrp="1"/>
          </p:cNvGraphicFramePr>
          <p:nvPr>
            <p:extLst>
              <p:ext uri="{D42A27DB-BD31-4B8C-83A1-F6EECF244321}">
                <p14:modId xmlns:p14="http://schemas.microsoft.com/office/powerpoint/2010/main" val="529483487"/>
              </p:ext>
            </p:extLst>
          </p:nvPr>
        </p:nvGraphicFramePr>
        <p:xfrm>
          <a:off x="731520" y="4730998"/>
          <a:ext cx="6262839" cy="1624084"/>
        </p:xfrm>
        <a:graphic>
          <a:graphicData uri="http://schemas.openxmlformats.org/drawingml/2006/table">
            <a:tbl>
              <a:tblPr>
                <a:tableStyleId>{5C22544A-7EE6-4342-B048-85BDC9FD1C3A}</a:tableStyleId>
              </a:tblPr>
              <a:tblGrid>
                <a:gridCol w="2087613">
                  <a:extLst>
                    <a:ext uri="{9D8B030D-6E8A-4147-A177-3AD203B41FA5}">
                      <a16:colId xmlns:a16="http://schemas.microsoft.com/office/drawing/2014/main" val="3453183023"/>
                    </a:ext>
                  </a:extLst>
                </a:gridCol>
                <a:gridCol w="2087613">
                  <a:extLst>
                    <a:ext uri="{9D8B030D-6E8A-4147-A177-3AD203B41FA5}">
                      <a16:colId xmlns:a16="http://schemas.microsoft.com/office/drawing/2014/main" val="3686409597"/>
                    </a:ext>
                  </a:extLst>
                </a:gridCol>
                <a:gridCol w="2087613">
                  <a:extLst>
                    <a:ext uri="{9D8B030D-6E8A-4147-A177-3AD203B41FA5}">
                      <a16:colId xmlns:a16="http://schemas.microsoft.com/office/drawing/2014/main" val="1798557196"/>
                    </a:ext>
                  </a:extLst>
                </a:gridCol>
              </a:tblGrid>
              <a:tr h="406021">
                <a:tc>
                  <a:txBody>
                    <a:bodyPr/>
                    <a:lstStyle/>
                    <a:p>
                      <a:pPr marL="0" marR="0" algn="l" fontAlgn="t">
                        <a:buNone/>
                      </a:pPr>
                      <a:r>
                        <a:rPr lang="es-CL" sz="1200">
                          <a:effectLst/>
                        </a:rPr>
                        <a:t>Venta</a:t>
                      </a:r>
                      <a:endParaRPr lang="es-CL" sz="1200" b="0" i="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dirty="0">
                          <a:effectLst/>
                        </a:rPr>
                        <a:t>Producto</a:t>
                      </a:r>
                      <a:endParaRPr lang="es-CL" sz="1200" b="0" i="0" dirty="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a:effectLst/>
                        </a:rPr>
                        <a:t>Vendedor</a:t>
                      </a:r>
                      <a:endParaRPr lang="es-CL" sz="1200" b="0" i="0">
                        <a:solidFill>
                          <a:srgbClr val="000000"/>
                        </a:solidFill>
                        <a:effectLst/>
                        <a:latin typeface="arial" panose="020B0604020202020204" pitchFamily="34" charset="0"/>
                      </a:endParaRPr>
                    </a:p>
                  </a:txBody>
                  <a:tcPr marB="95250"/>
                </a:tc>
                <a:extLst>
                  <a:ext uri="{0D108BD9-81ED-4DB2-BD59-A6C34878D82A}">
                    <a16:rowId xmlns:a16="http://schemas.microsoft.com/office/drawing/2014/main" val="583160814"/>
                  </a:ext>
                </a:extLst>
              </a:tr>
              <a:tr h="406021">
                <a:tc>
                  <a:txBody>
                    <a:bodyPr/>
                    <a:lstStyle/>
                    <a:p>
                      <a:pPr marL="0" marR="0" algn="l" fontAlgn="t">
                        <a:buNone/>
                      </a:pPr>
                      <a:r>
                        <a:rPr lang="es-CL" sz="1200">
                          <a:effectLst/>
                        </a:rPr>
                        <a:t>500</a:t>
                      </a:r>
                      <a:endParaRPr lang="es-CL" sz="1200" b="0" i="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a:effectLst/>
                        </a:rPr>
                        <a:t>Producto A</a:t>
                      </a:r>
                      <a:endParaRPr lang="es-CL" sz="1200" b="0" i="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a:effectLst/>
                        </a:rPr>
                        <a:t>Juan</a:t>
                      </a:r>
                      <a:endParaRPr lang="es-CL" sz="1200" b="0" i="0">
                        <a:solidFill>
                          <a:srgbClr val="000000"/>
                        </a:solidFill>
                        <a:effectLst/>
                        <a:latin typeface="arial" panose="020B0604020202020204" pitchFamily="34" charset="0"/>
                      </a:endParaRPr>
                    </a:p>
                  </a:txBody>
                  <a:tcPr marB="95250"/>
                </a:tc>
                <a:extLst>
                  <a:ext uri="{0D108BD9-81ED-4DB2-BD59-A6C34878D82A}">
                    <a16:rowId xmlns:a16="http://schemas.microsoft.com/office/drawing/2014/main" val="1876371085"/>
                  </a:ext>
                </a:extLst>
              </a:tr>
              <a:tr h="406021">
                <a:tc>
                  <a:txBody>
                    <a:bodyPr/>
                    <a:lstStyle/>
                    <a:p>
                      <a:pPr marL="0" marR="0" algn="l" fontAlgn="t">
                        <a:buNone/>
                      </a:pPr>
                      <a:r>
                        <a:rPr lang="es-CL" sz="1200">
                          <a:effectLst/>
                        </a:rPr>
                        <a:t>700</a:t>
                      </a:r>
                      <a:endParaRPr lang="es-CL" sz="1200" b="0" i="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dirty="0">
                          <a:effectLst/>
                        </a:rPr>
                        <a:t>Producto B</a:t>
                      </a:r>
                      <a:endParaRPr lang="es-CL" sz="1200" b="0" i="0" dirty="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a:effectLst/>
                        </a:rPr>
                        <a:t>Ana</a:t>
                      </a:r>
                      <a:endParaRPr lang="es-CL" sz="1200" b="0" i="0">
                        <a:solidFill>
                          <a:srgbClr val="000000"/>
                        </a:solidFill>
                        <a:effectLst/>
                        <a:latin typeface="arial" panose="020B0604020202020204" pitchFamily="34" charset="0"/>
                      </a:endParaRPr>
                    </a:p>
                  </a:txBody>
                  <a:tcPr marB="95250"/>
                </a:tc>
                <a:extLst>
                  <a:ext uri="{0D108BD9-81ED-4DB2-BD59-A6C34878D82A}">
                    <a16:rowId xmlns:a16="http://schemas.microsoft.com/office/drawing/2014/main" val="3662134383"/>
                  </a:ext>
                </a:extLst>
              </a:tr>
              <a:tr h="406021">
                <a:tc>
                  <a:txBody>
                    <a:bodyPr/>
                    <a:lstStyle/>
                    <a:p>
                      <a:pPr marL="0" marR="0" algn="l" fontAlgn="t">
                        <a:buNone/>
                      </a:pPr>
                      <a:r>
                        <a:rPr lang="es-CL" sz="1200">
                          <a:effectLst/>
                        </a:rPr>
                        <a:t>800</a:t>
                      </a:r>
                      <a:endParaRPr lang="es-CL" sz="1200" b="0" i="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a:effectLst/>
                        </a:rPr>
                        <a:t>Producto A</a:t>
                      </a:r>
                      <a:endParaRPr lang="es-CL" sz="1200" b="0" i="0">
                        <a:solidFill>
                          <a:srgbClr val="000000"/>
                        </a:solidFill>
                        <a:effectLst/>
                        <a:latin typeface="arial" panose="020B0604020202020204" pitchFamily="34" charset="0"/>
                      </a:endParaRPr>
                    </a:p>
                  </a:txBody>
                  <a:tcPr marR="95250" marB="95250"/>
                </a:tc>
                <a:tc>
                  <a:txBody>
                    <a:bodyPr/>
                    <a:lstStyle/>
                    <a:p>
                      <a:pPr marL="0" marR="0" algn="l" fontAlgn="t">
                        <a:buNone/>
                      </a:pPr>
                      <a:r>
                        <a:rPr lang="es-CL" sz="1200" dirty="0">
                          <a:effectLst/>
                        </a:rPr>
                        <a:t>Ana</a:t>
                      </a:r>
                      <a:endParaRPr lang="es-CL" sz="1200" b="0" i="0" dirty="0">
                        <a:solidFill>
                          <a:srgbClr val="000000"/>
                        </a:solidFill>
                        <a:effectLst/>
                        <a:latin typeface="arial" panose="020B0604020202020204" pitchFamily="34" charset="0"/>
                      </a:endParaRPr>
                    </a:p>
                  </a:txBody>
                  <a:tcPr marB="95250"/>
                </a:tc>
                <a:extLst>
                  <a:ext uri="{0D108BD9-81ED-4DB2-BD59-A6C34878D82A}">
                    <a16:rowId xmlns:a16="http://schemas.microsoft.com/office/drawing/2014/main" val="2325944572"/>
                  </a:ext>
                </a:extLst>
              </a:tr>
            </a:tbl>
          </a:graphicData>
        </a:graphic>
      </p:graphicFrame>
      <p:sp>
        <p:nvSpPr>
          <p:cNvPr id="14" name="CuadroTexto 13">
            <a:extLst>
              <a:ext uri="{FF2B5EF4-FFF2-40B4-BE49-F238E27FC236}">
                <a16:creationId xmlns:a16="http://schemas.microsoft.com/office/drawing/2014/main" id="{4C8CCCB8-C32B-128E-ED58-9C5E68743116}"/>
              </a:ext>
            </a:extLst>
          </p:cNvPr>
          <p:cNvSpPr txBox="1"/>
          <p:nvPr/>
        </p:nvSpPr>
        <p:spPr>
          <a:xfrm>
            <a:off x="704750" y="3571673"/>
            <a:ext cx="6096000" cy="1200329"/>
          </a:xfrm>
          <a:prstGeom prst="rect">
            <a:avLst/>
          </a:prstGeom>
          <a:noFill/>
        </p:spPr>
        <p:txBody>
          <a:bodyPr wrap="square">
            <a:spAutoFit/>
          </a:bodyPr>
          <a:lstStyle/>
          <a:p>
            <a:pPr marL="0" marR="0" indent="0" algn="l">
              <a:lnSpc>
                <a:spcPct val="100000"/>
              </a:lnSpc>
              <a:buNone/>
            </a:pPr>
            <a:r>
              <a:rPr lang="es-CL" sz="1800" b="1" dirty="0">
                <a:solidFill>
                  <a:schemeClr val="tx1"/>
                </a:solidFill>
                <a:effectLst/>
                <a:latin typeface="+mn-lt"/>
              </a:rPr>
              <a:t>Ejemplo práctico</a:t>
            </a:r>
          </a:p>
          <a:p>
            <a:r>
              <a:rPr lang="es-CL" sz="1800" b="0" dirty="0">
                <a:solidFill>
                  <a:schemeClr val="tx1"/>
                </a:solidFill>
                <a:effectLst/>
                <a:latin typeface="+mn-lt"/>
              </a:rPr>
              <a:t>Supongamos que tienes una tabla con ventas, productos y vendedores: </a:t>
            </a:r>
            <a:r>
              <a:rPr lang="es-CL" dirty="0"/>
              <a:t>=MAX.SI.CONJUNTO(A2:A4, B2:B4, "Producto A", C2:C4, "Ana")</a:t>
            </a:r>
            <a:endParaRPr lang="es-CL" sz="1200" b="0" dirty="0">
              <a:solidFill>
                <a:srgbClr val="000000"/>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14. MIN.SI.CONJUNTO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Devuelve el mínimo valor que cumple uno o varios criterios.</a:t>
            </a:r>
          </a:p>
        </p:txBody>
      </p:sp>
      <p:sp>
        <p:nvSpPr>
          <p:cNvPr id="4" name="TextBox 3"/>
          <p:cNvSpPr txBox="1"/>
          <p:nvPr/>
        </p:nvSpPr>
        <p:spPr>
          <a:xfrm>
            <a:off x="731520" y="1508760"/>
            <a:ext cx="6400800" cy="4480560"/>
          </a:xfrm>
          <a:prstGeom prst="rect">
            <a:avLst/>
          </a:prstGeom>
          <a:noFill/>
        </p:spPr>
        <p:txBody>
          <a:bodyPr wrap="none">
            <a:spAutoFit/>
          </a:bodyPr>
          <a:lstStyle/>
          <a:p>
            <a:pPr>
              <a:spcAft>
                <a:spcPts val="1000"/>
              </a:spcAft>
              <a:defRPr sz="1900"/>
            </a:pPr>
            <a:r>
              <a:t>Funciona de forma similar a MAX.SI.CONJUNTO.</a:t>
            </a:r>
          </a:p>
          <a:p>
            <a:pPr>
              <a:spcAft>
                <a:spcPts val="1000"/>
              </a:spcAft>
              <a:defRPr sz="1900"/>
            </a:pPr>
            <a:r>
              <a:t>Permite encontrar mínimos dentro de grupos específicos.</a:t>
            </a:r>
          </a:p>
        </p:txBody>
      </p:sp>
      <p:sp>
        <p:nvSpPr>
          <p:cNvPr id="5" name="TextBox 4"/>
          <p:cNvSpPr txBox="1"/>
          <p:nvPr/>
        </p:nvSpPr>
        <p:spPr>
          <a:xfrm>
            <a:off x="7406640" y="1600200"/>
            <a:ext cx="4114800" cy="1280160"/>
          </a:xfrm>
          <a:prstGeom prst="rect">
            <a:avLst/>
          </a:prstGeom>
          <a:noFill/>
        </p:spPr>
        <p:txBody>
          <a:bodyPr wrap="square">
            <a:spAutoFit/>
          </a:bodyPr>
          <a:lstStyle/>
          <a:p>
            <a:pPr>
              <a:defRPr sz="1600" b="1"/>
            </a:pPr>
            <a:r>
              <a:t>Fórmula</a:t>
            </a:r>
          </a:p>
          <a:p>
            <a:pPr>
              <a:defRPr sz="1800"/>
            </a:pPr>
            <a:r>
              <a:t>=MIN.SI.CONJUNTO(J2:J1001;F2:F1001;"Audio")</a:t>
            </a:r>
          </a:p>
        </p:txBody>
      </p:sp>
      <p:sp>
        <p:nvSpPr>
          <p:cNvPr id="6" name="TextBox 5"/>
          <p:cNvSpPr txBox="1"/>
          <p:nvPr/>
        </p:nvSpPr>
        <p:spPr>
          <a:xfrm>
            <a:off x="7406640" y="3063240"/>
            <a:ext cx="4114800" cy="2194560"/>
          </a:xfrm>
          <a:prstGeom prst="rect">
            <a:avLst/>
          </a:prstGeom>
          <a:noFill/>
        </p:spPr>
        <p:txBody>
          <a:bodyPr wrap="square">
            <a:spAutoFit/>
          </a:bodyPr>
          <a:lstStyle/>
          <a:p>
            <a:pPr>
              <a:defRPr sz="1600" b="1"/>
            </a:pPr>
            <a:r>
              <a:t>Aplicación</a:t>
            </a:r>
          </a:p>
          <a:p>
            <a:pPr>
              <a:defRPr sz="1700"/>
            </a:pPr>
            <a:r>
              <a:t>Ej.: menor venta de la categoría Audio.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15. CONTAR.SI.CONJUNTO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Cuenta registros que cumplen dos o más criterios.</a:t>
            </a:r>
          </a:p>
        </p:txBody>
      </p:sp>
      <p:sp>
        <p:nvSpPr>
          <p:cNvPr id="4" name="TextBox 3"/>
          <p:cNvSpPr txBox="1"/>
          <p:nvPr/>
        </p:nvSpPr>
        <p:spPr>
          <a:xfrm>
            <a:off x="731521" y="1508760"/>
            <a:ext cx="6675120" cy="4560223"/>
          </a:xfrm>
          <a:prstGeom prst="rect">
            <a:avLst/>
          </a:prstGeom>
          <a:noFill/>
        </p:spPr>
        <p:txBody>
          <a:bodyPr wrap="square">
            <a:spAutoFit/>
          </a:bodyPr>
          <a:lstStyle/>
          <a:p>
            <a:pPr>
              <a:spcAft>
                <a:spcPts val="1000"/>
              </a:spcAft>
              <a:defRPr sz="1900"/>
            </a:pPr>
            <a:r>
              <a:rPr lang="es-CL" dirty="0"/>
              <a:t>CONTAR.SI.CONJUNTO permite contar registros utilizando </a:t>
            </a:r>
            <a:r>
              <a:rPr lang="es-CL" b="1" dirty="0"/>
              <a:t>varias condiciones simultáneamente</a:t>
            </a:r>
            <a:r>
              <a:rPr lang="es-CL" dirty="0"/>
              <a:t>.</a:t>
            </a:r>
          </a:p>
          <a:p>
            <a:pPr>
              <a:spcAft>
                <a:spcPts val="1000"/>
              </a:spcAft>
              <a:defRPr sz="1900"/>
            </a:pPr>
            <a:endParaRPr lang="es-CL" dirty="0"/>
          </a:p>
          <a:p>
            <a:pPr>
              <a:spcAft>
                <a:spcPts val="1000"/>
              </a:spcAft>
              <a:defRPr sz="1900"/>
            </a:pPr>
            <a:r>
              <a:rPr lang="es-CL" dirty="0"/>
              <a:t>¿Cuántos clientes son de Arica y además tienen satisfacción ≥ 9? </a:t>
            </a:r>
          </a:p>
          <a:p>
            <a:pPr>
              <a:spcAft>
                <a:spcPts val="1000"/>
              </a:spcAft>
              <a:defRPr sz="1900"/>
            </a:pPr>
            <a:endParaRPr dirty="0"/>
          </a:p>
          <a:p>
            <a:r>
              <a:rPr lang="es-CL" b="1" dirty="0"/>
              <a:t>Fórmula:</a:t>
            </a:r>
          </a:p>
          <a:p>
            <a:r>
              <a:rPr lang="es-CL" dirty="0"/>
              <a:t>=CONTAR.SI.CONJUNTO(D2:D6;"Arica";F2:F6;"&gt;=9")</a:t>
            </a:r>
          </a:p>
          <a:p>
            <a:r>
              <a:rPr lang="es-CL" dirty="0"/>
              <a:t>Clientes que cumplen:</a:t>
            </a:r>
          </a:p>
          <a:p>
            <a:pPr lvl="0"/>
            <a:r>
              <a:rPr lang="es-CL" dirty="0"/>
              <a:t>Arica </a:t>
            </a:r>
          </a:p>
          <a:p>
            <a:pPr lvl="0"/>
            <a:r>
              <a:rPr lang="es-CL" dirty="0"/>
              <a:t>Satisfacción ≥ 9 </a:t>
            </a:r>
          </a:p>
          <a:p>
            <a:r>
              <a:rPr lang="es-CL" dirty="0"/>
              <a:t>Son:</a:t>
            </a:r>
          </a:p>
          <a:p>
            <a:r>
              <a:rPr lang="es-CL" b="1" dirty="0"/>
              <a:t>Carla y María</a:t>
            </a:r>
            <a:endParaRPr lang="es-CL" dirty="0"/>
          </a:p>
          <a:p>
            <a:r>
              <a:rPr lang="es-CL" b="1" dirty="0"/>
              <a:t>Resultado:</a:t>
            </a:r>
          </a:p>
          <a:p>
            <a:r>
              <a:rPr lang="es-CL" b="1" dirty="0"/>
              <a:t>2</a:t>
            </a:r>
            <a:endParaRPr lang="es-CL" dirty="0"/>
          </a:p>
        </p:txBody>
      </p:sp>
      <p:sp>
        <p:nvSpPr>
          <p:cNvPr id="5" name="TextBox 4"/>
          <p:cNvSpPr txBox="1"/>
          <p:nvPr/>
        </p:nvSpPr>
        <p:spPr>
          <a:xfrm>
            <a:off x="7406640" y="1508760"/>
            <a:ext cx="4114800" cy="892552"/>
          </a:xfrm>
          <a:prstGeom prst="rect">
            <a:avLst/>
          </a:prstGeom>
          <a:noFill/>
        </p:spPr>
        <p:txBody>
          <a:bodyPr wrap="square">
            <a:spAutoFit/>
          </a:bodyPr>
          <a:lstStyle/>
          <a:p>
            <a:pPr>
              <a:defRPr sz="1600" b="1"/>
            </a:pPr>
            <a:r>
              <a:rPr dirty="0" err="1"/>
              <a:t>Fórmula</a:t>
            </a:r>
            <a:endParaRPr dirty="0"/>
          </a:p>
          <a:p>
            <a:pPr>
              <a:defRPr sz="1800"/>
            </a:pPr>
            <a:r>
              <a:rPr lang="es-CL" dirty="0"/>
              <a:t>CONTAR.SI.CONJUNTO(rango_criterios1; criterio1; [rango_criterios2; criterio2]; …)</a:t>
            </a:r>
            <a:endParaRPr dirty="0"/>
          </a:p>
        </p:txBody>
      </p:sp>
      <p:sp>
        <p:nvSpPr>
          <p:cNvPr id="6" name="TextBox 5"/>
          <p:cNvSpPr txBox="1"/>
          <p:nvPr/>
        </p:nvSpPr>
        <p:spPr>
          <a:xfrm>
            <a:off x="7406640" y="3063240"/>
            <a:ext cx="4114800" cy="2194560"/>
          </a:xfrm>
          <a:prstGeom prst="rect">
            <a:avLst/>
          </a:prstGeom>
          <a:noFill/>
        </p:spPr>
        <p:txBody>
          <a:bodyPr wrap="square">
            <a:spAutoFit/>
          </a:bodyPr>
          <a:lstStyle/>
          <a:p>
            <a:pPr>
              <a:defRPr sz="1600" b="1"/>
            </a:pPr>
            <a:r>
              <a:t>Aplicación</a:t>
            </a:r>
          </a:p>
          <a:p>
            <a:pPr>
              <a:defRPr sz="1700"/>
            </a:pPr>
            <a:r>
              <a:t>Ej.: contar ventas completadas en Arica.</a:t>
            </a:r>
          </a:p>
        </p:txBody>
      </p:sp>
      <p:graphicFrame>
        <p:nvGraphicFramePr>
          <p:cNvPr id="7" name="Tabla 6">
            <a:extLst>
              <a:ext uri="{FF2B5EF4-FFF2-40B4-BE49-F238E27FC236}">
                <a16:creationId xmlns:a16="http://schemas.microsoft.com/office/drawing/2014/main" id="{58C84E5D-7990-48C7-CAF6-C1D3D12B0ED7}"/>
              </a:ext>
            </a:extLst>
          </p:cNvPr>
          <p:cNvGraphicFramePr>
            <a:graphicFrameLocks noGrp="1"/>
          </p:cNvGraphicFramePr>
          <p:nvPr>
            <p:extLst>
              <p:ext uri="{D42A27DB-BD31-4B8C-83A1-F6EECF244321}">
                <p14:modId xmlns:p14="http://schemas.microsoft.com/office/powerpoint/2010/main" val="3619394580"/>
              </p:ext>
            </p:extLst>
          </p:nvPr>
        </p:nvGraphicFramePr>
        <p:xfrm>
          <a:off x="3761874" y="4087770"/>
          <a:ext cx="8229599" cy="2743200"/>
        </p:xfrm>
        <a:graphic>
          <a:graphicData uri="http://schemas.openxmlformats.org/drawingml/2006/table">
            <a:tbl>
              <a:tblPr>
                <a:tableStyleId>{5C22544A-7EE6-4342-B048-85BDC9FD1C3A}</a:tableStyleId>
              </a:tblPr>
              <a:tblGrid>
                <a:gridCol w="1175657">
                  <a:extLst>
                    <a:ext uri="{9D8B030D-6E8A-4147-A177-3AD203B41FA5}">
                      <a16:colId xmlns:a16="http://schemas.microsoft.com/office/drawing/2014/main" val="3956161029"/>
                    </a:ext>
                  </a:extLst>
                </a:gridCol>
                <a:gridCol w="1175657">
                  <a:extLst>
                    <a:ext uri="{9D8B030D-6E8A-4147-A177-3AD203B41FA5}">
                      <a16:colId xmlns:a16="http://schemas.microsoft.com/office/drawing/2014/main" val="1889280078"/>
                    </a:ext>
                  </a:extLst>
                </a:gridCol>
                <a:gridCol w="1175657">
                  <a:extLst>
                    <a:ext uri="{9D8B030D-6E8A-4147-A177-3AD203B41FA5}">
                      <a16:colId xmlns:a16="http://schemas.microsoft.com/office/drawing/2014/main" val="912981668"/>
                    </a:ext>
                  </a:extLst>
                </a:gridCol>
                <a:gridCol w="1175657">
                  <a:extLst>
                    <a:ext uri="{9D8B030D-6E8A-4147-A177-3AD203B41FA5}">
                      <a16:colId xmlns:a16="http://schemas.microsoft.com/office/drawing/2014/main" val="661241255"/>
                    </a:ext>
                  </a:extLst>
                </a:gridCol>
                <a:gridCol w="1175657">
                  <a:extLst>
                    <a:ext uri="{9D8B030D-6E8A-4147-A177-3AD203B41FA5}">
                      <a16:colId xmlns:a16="http://schemas.microsoft.com/office/drawing/2014/main" val="3239685712"/>
                    </a:ext>
                  </a:extLst>
                </a:gridCol>
                <a:gridCol w="1175657">
                  <a:extLst>
                    <a:ext uri="{9D8B030D-6E8A-4147-A177-3AD203B41FA5}">
                      <a16:colId xmlns:a16="http://schemas.microsoft.com/office/drawing/2014/main" val="3309441260"/>
                    </a:ext>
                  </a:extLst>
                </a:gridCol>
                <a:gridCol w="1175657">
                  <a:extLst>
                    <a:ext uri="{9D8B030D-6E8A-4147-A177-3AD203B41FA5}">
                      <a16:colId xmlns:a16="http://schemas.microsoft.com/office/drawing/2014/main" val="3030617486"/>
                    </a:ext>
                  </a:extLst>
                </a:gridCol>
              </a:tblGrid>
              <a:tr h="0">
                <a:tc>
                  <a:txBody>
                    <a:bodyPr/>
                    <a:lstStyle/>
                    <a:p>
                      <a:pPr>
                        <a:buNone/>
                      </a:pPr>
                      <a:r>
                        <a:rPr lang="es-CL"/>
                        <a:t>ID</a:t>
                      </a:r>
                    </a:p>
                  </a:txBody>
                  <a:tcPr anchor="ctr"/>
                </a:tc>
                <a:tc>
                  <a:txBody>
                    <a:bodyPr/>
                    <a:lstStyle/>
                    <a:p>
                      <a:pPr>
                        <a:buNone/>
                      </a:pPr>
                      <a:r>
                        <a:rPr lang="es-CL"/>
                        <a:t>Nombre</a:t>
                      </a:r>
                    </a:p>
                  </a:txBody>
                  <a:tcPr anchor="ctr"/>
                </a:tc>
                <a:tc>
                  <a:txBody>
                    <a:bodyPr/>
                    <a:lstStyle/>
                    <a:p>
                      <a:pPr algn="r">
                        <a:buNone/>
                      </a:pPr>
                      <a:r>
                        <a:rPr lang="es-CL"/>
                        <a:t>Edad</a:t>
                      </a:r>
                    </a:p>
                  </a:txBody>
                  <a:tcPr anchor="ctr"/>
                </a:tc>
                <a:tc>
                  <a:txBody>
                    <a:bodyPr/>
                    <a:lstStyle/>
                    <a:p>
                      <a:pPr>
                        <a:buNone/>
                      </a:pPr>
                      <a:r>
                        <a:rPr lang="es-CL"/>
                        <a:t>Ciudad</a:t>
                      </a:r>
                    </a:p>
                  </a:txBody>
                  <a:tcPr anchor="ctr"/>
                </a:tc>
                <a:tc>
                  <a:txBody>
                    <a:bodyPr/>
                    <a:lstStyle/>
                    <a:p>
                      <a:pPr>
                        <a:buNone/>
                      </a:pPr>
                      <a:r>
                        <a:rPr lang="es-CL"/>
                        <a:t>Categoría</a:t>
                      </a:r>
                    </a:p>
                  </a:txBody>
                  <a:tcPr anchor="ctr"/>
                </a:tc>
                <a:tc>
                  <a:txBody>
                    <a:bodyPr/>
                    <a:lstStyle/>
                    <a:p>
                      <a:pPr algn="r">
                        <a:buNone/>
                      </a:pPr>
                      <a:r>
                        <a:rPr lang="es-CL"/>
                        <a:t>Satisfacción</a:t>
                      </a:r>
                    </a:p>
                  </a:txBody>
                  <a:tcPr anchor="ctr"/>
                </a:tc>
                <a:tc>
                  <a:txBody>
                    <a:bodyPr/>
                    <a:lstStyle/>
                    <a:p>
                      <a:pPr algn="r">
                        <a:buNone/>
                      </a:pPr>
                      <a:r>
                        <a:rPr lang="es-CL"/>
                        <a:t>Ventas</a:t>
                      </a:r>
                    </a:p>
                  </a:txBody>
                  <a:tcPr anchor="ctr"/>
                </a:tc>
                <a:extLst>
                  <a:ext uri="{0D108BD9-81ED-4DB2-BD59-A6C34878D82A}">
                    <a16:rowId xmlns:a16="http://schemas.microsoft.com/office/drawing/2014/main" val="3691323112"/>
                  </a:ext>
                </a:extLst>
              </a:tr>
              <a:tr h="0">
                <a:tc>
                  <a:txBody>
                    <a:bodyPr/>
                    <a:lstStyle/>
                    <a:p>
                      <a:pPr>
                        <a:buNone/>
                      </a:pPr>
                      <a:r>
                        <a:rPr lang="es-CL"/>
                        <a:t>1001</a:t>
                      </a:r>
                    </a:p>
                  </a:txBody>
                  <a:tcPr anchor="ctr"/>
                </a:tc>
                <a:tc>
                  <a:txBody>
                    <a:bodyPr/>
                    <a:lstStyle/>
                    <a:p>
                      <a:pPr>
                        <a:buNone/>
                      </a:pPr>
                      <a:r>
                        <a:rPr lang="es-CL"/>
                        <a:t>Ana</a:t>
                      </a:r>
                    </a:p>
                  </a:txBody>
                  <a:tcPr anchor="ctr"/>
                </a:tc>
                <a:tc>
                  <a:txBody>
                    <a:bodyPr/>
                    <a:lstStyle/>
                    <a:p>
                      <a:pPr algn="r">
                        <a:buNone/>
                      </a:pPr>
                      <a:r>
                        <a:rPr lang="es-CL"/>
                        <a:t>25</a:t>
                      </a:r>
                    </a:p>
                  </a:txBody>
                  <a:tcPr anchor="ctr"/>
                </a:tc>
                <a:tc>
                  <a:txBody>
                    <a:bodyPr/>
                    <a:lstStyle/>
                    <a:p>
                      <a:pPr>
                        <a:buNone/>
                      </a:pPr>
                      <a:r>
                        <a:rPr lang="es-CL"/>
                        <a:t>Arica</a:t>
                      </a:r>
                    </a:p>
                  </a:txBody>
                  <a:tcPr anchor="ctr"/>
                </a:tc>
                <a:tc>
                  <a:txBody>
                    <a:bodyPr/>
                    <a:lstStyle/>
                    <a:p>
                      <a:pPr>
                        <a:buNone/>
                      </a:pPr>
                      <a:r>
                        <a:rPr lang="es-CL"/>
                        <a:t>A</a:t>
                      </a:r>
                    </a:p>
                  </a:txBody>
                  <a:tcPr anchor="ctr"/>
                </a:tc>
                <a:tc>
                  <a:txBody>
                    <a:bodyPr/>
                    <a:lstStyle/>
                    <a:p>
                      <a:pPr algn="r">
                        <a:buNone/>
                      </a:pPr>
                      <a:r>
                        <a:rPr lang="es-CL"/>
                        <a:t>8</a:t>
                      </a:r>
                    </a:p>
                  </a:txBody>
                  <a:tcPr anchor="ctr"/>
                </a:tc>
                <a:tc>
                  <a:txBody>
                    <a:bodyPr/>
                    <a:lstStyle/>
                    <a:p>
                      <a:pPr algn="r">
                        <a:buNone/>
                      </a:pPr>
                      <a:r>
                        <a:rPr lang="es-CL"/>
                        <a:t>$120.000</a:t>
                      </a:r>
                    </a:p>
                  </a:txBody>
                  <a:tcPr anchor="ctr"/>
                </a:tc>
                <a:extLst>
                  <a:ext uri="{0D108BD9-81ED-4DB2-BD59-A6C34878D82A}">
                    <a16:rowId xmlns:a16="http://schemas.microsoft.com/office/drawing/2014/main" val="3738746753"/>
                  </a:ext>
                </a:extLst>
              </a:tr>
              <a:tr h="0">
                <a:tc>
                  <a:txBody>
                    <a:bodyPr/>
                    <a:lstStyle/>
                    <a:p>
                      <a:pPr>
                        <a:buNone/>
                      </a:pPr>
                      <a:r>
                        <a:rPr lang="es-CL"/>
                        <a:t>1002</a:t>
                      </a:r>
                    </a:p>
                  </a:txBody>
                  <a:tcPr anchor="ctr"/>
                </a:tc>
                <a:tc>
                  <a:txBody>
                    <a:bodyPr/>
                    <a:lstStyle/>
                    <a:p>
                      <a:pPr>
                        <a:buNone/>
                      </a:pPr>
                      <a:r>
                        <a:rPr lang="es-CL"/>
                        <a:t>Luis</a:t>
                      </a:r>
                    </a:p>
                  </a:txBody>
                  <a:tcPr anchor="ctr"/>
                </a:tc>
                <a:tc>
                  <a:txBody>
                    <a:bodyPr/>
                    <a:lstStyle/>
                    <a:p>
                      <a:pPr algn="r">
                        <a:buNone/>
                      </a:pPr>
                      <a:r>
                        <a:rPr lang="es-CL"/>
                        <a:t>34</a:t>
                      </a:r>
                    </a:p>
                  </a:txBody>
                  <a:tcPr anchor="ctr"/>
                </a:tc>
                <a:tc>
                  <a:txBody>
                    <a:bodyPr/>
                    <a:lstStyle/>
                    <a:p>
                      <a:pPr>
                        <a:buNone/>
                      </a:pPr>
                      <a:r>
                        <a:rPr lang="es-CL"/>
                        <a:t>Iquique</a:t>
                      </a:r>
                    </a:p>
                  </a:txBody>
                  <a:tcPr anchor="ctr"/>
                </a:tc>
                <a:tc>
                  <a:txBody>
                    <a:bodyPr/>
                    <a:lstStyle/>
                    <a:p>
                      <a:pPr>
                        <a:buNone/>
                      </a:pPr>
                      <a:r>
                        <a:rPr lang="es-CL"/>
                        <a:t>B</a:t>
                      </a:r>
                    </a:p>
                  </a:txBody>
                  <a:tcPr anchor="ctr"/>
                </a:tc>
                <a:tc>
                  <a:txBody>
                    <a:bodyPr/>
                    <a:lstStyle/>
                    <a:p>
                      <a:pPr algn="r">
                        <a:buNone/>
                      </a:pPr>
                      <a:r>
                        <a:rPr lang="es-CL"/>
                        <a:t>6</a:t>
                      </a:r>
                    </a:p>
                  </a:txBody>
                  <a:tcPr anchor="ctr"/>
                </a:tc>
                <a:tc>
                  <a:txBody>
                    <a:bodyPr/>
                    <a:lstStyle/>
                    <a:p>
                      <a:pPr algn="r">
                        <a:buNone/>
                      </a:pPr>
                      <a:r>
                        <a:rPr lang="es-CL"/>
                        <a:t>$95.000</a:t>
                      </a:r>
                    </a:p>
                  </a:txBody>
                  <a:tcPr anchor="ctr"/>
                </a:tc>
                <a:extLst>
                  <a:ext uri="{0D108BD9-81ED-4DB2-BD59-A6C34878D82A}">
                    <a16:rowId xmlns:a16="http://schemas.microsoft.com/office/drawing/2014/main" val="3275112674"/>
                  </a:ext>
                </a:extLst>
              </a:tr>
              <a:tr h="0">
                <a:tc>
                  <a:txBody>
                    <a:bodyPr/>
                    <a:lstStyle/>
                    <a:p>
                      <a:pPr>
                        <a:buNone/>
                      </a:pPr>
                      <a:r>
                        <a:rPr lang="es-CL"/>
                        <a:t>1003</a:t>
                      </a:r>
                    </a:p>
                  </a:txBody>
                  <a:tcPr anchor="ctr"/>
                </a:tc>
                <a:tc>
                  <a:txBody>
                    <a:bodyPr/>
                    <a:lstStyle/>
                    <a:p>
                      <a:pPr>
                        <a:buNone/>
                      </a:pPr>
                      <a:r>
                        <a:rPr lang="es-CL"/>
                        <a:t>Carla</a:t>
                      </a:r>
                    </a:p>
                  </a:txBody>
                  <a:tcPr anchor="ctr"/>
                </a:tc>
                <a:tc>
                  <a:txBody>
                    <a:bodyPr/>
                    <a:lstStyle/>
                    <a:p>
                      <a:pPr algn="r">
                        <a:buNone/>
                      </a:pPr>
                      <a:r>
                        <a:rPr lang="es-CL"/>
                        <a:t>29</a:t>
                      </a:r>
                    </a:p>
                  </a:txBody>
                  <a:tcPr anchor="ctr"/>
                </a:tc>
                <a:tc>
                  <a:txBody>
                    <a:bodyPr/>
                    <a:lstStyle/>
                    <a:p>
                      <a:pPr>
                        <a:buNone/>
                      </a:pPr>
                      <a:r>
                        <a:rPr lang="es-CL"/>
                        <a:t>Arica</a:t>
                      </a:r>
                    </a:p>
                  </a:txBody>
                  <a:tcPr anchor="ctr"/>
                </a:tc>
                <a:tc>
                  <a:txBody>
                    <a:bodyPr/>
                    <a:lstStyle/>
                    <a:p>
                      <a:pPr>
                        <a:buNone/>
                      </a:pPr>
                      <a:r>
                        <a:rPr lang="es-CL"/>
                        <a:t>A</a:t>
                      </a:r>
                    </a:p>
                  </a:txBody>
                  <a:tcPr anchor="ctr"/>
                </a:tc>
                <a:tc>
                  <a:txBody>
                    <a:bodyPr/>
                    <a:lstStyle/>
                    <a:p>
                      <a:pPr algn="r">
                        <a:buNone/>
                      </a:pPr>
                      <a:r>
                        <a:rPr lang="es-CL"/>
                        <a:t>9</a:t>
                      </a:r>
                    </a:p>
                  </a:txBody>
                  <a:tcPr anchor="ctr"/>
                </a:tc>
                <a:tc>
                  <a:txBody>
                    <a:bodyPr/>
                    <a:lstStyle/>
                    <a:p>
                      <a:pPr algn="r">
                        <a:buNone/>
                      </a:pPr>
                      <a:r>
                        <a:rPr lang="es-CL"/>
                        <a:t>$150.000</a:t>
                      </a:r>
                    </a:p>
                  </a:txBody>
                  <a:tcPr anchor="ctr"/>
                </a:tc>
                <a:extLst>
                  <a:ext uri="{0D108BD9-81ED-4DB2-BD59-A6C34878D82A}">
                    <a16:rowId xmlns:a16="http://schemas.microsoft.com/office/drawing/2014/main" val="3043743300"/>
                  </a:ext>
                </a:extLst>
              </a:tr>
              <a:tr h="0">
                <a:tc>
                  <a:txBody>
                    <a:bodyPr/>
                    <a:lstStyle/>
                    <a:p>
                      <a:pPr>
                        <a:buNone/>
                      </a:pPr>
                      <a:r>
                        <a:rPr lang="es-CL"/>
                        <a:t>1004</a:t>
                      </a:r>
                    </a:p>
                  </a:txBody>
                  <a:tcPr anchor="ctr"/>
                </a:tc>
                <a:tc>
                  <a:txBody>
                    <a:bodyPr/>
                    <a:lstStyle/>
                    <a:p>
                      <a:pPr>
                        <a:buNone/>
                      </a:pPr>
                      <a:r>
                        <a:rPr lang="es-CL"/>
                        <a:t>Pedro</a:t>
                      </a:r>
                    </a:p>
                  </a:txBody>
                  <a:tcPr anchor="ctr"/>
                </a:tc>
                <a:tc>
                  <a:txBody>
                    <a:bodyPr/>
                    <a:lstStyle/>
                    <a:p>
                      <a:pPr algn="r">
                        <a:buNone/>
                      </a:pPr>
                      <a:r>
                        <a:rPr lang="es-CL"/>
                        <a:t>41</a:t>
                      </a:r>
                    </a:p>
                  </a:txBody>
                  <a:tcPr anchor="ctr"/>
                </a:tc>
                <a:tc>
                  <a:txBody>
                    <a:bodyPr/>
                    <a:lstStyle/>
                    <a:p>
                      <a:pPr>
                        <a:buNone/>
                      </a:pPr>
                      <a:r>
                        <a:rPr lang="es-CL"/>
                        <a:t>Antofagasta</a:t>
                      </a:r>
                    </a:p>
                  </a:txBody>
                  <a:tcPr anchor="ctr"/>
                </a:tc>
                <a:tc>
                  <a:txBody>
                    <a:bodyPr/>
                    <a:lstStyle/>
                    <a:p>
                      <a:pPr>
                        <a:buNone/>
                      </a:pPr>
                      <a:r>
                        <a:rPr lang="es-CL" dirty="0"/>
                        <a:t>C</a:t>
                      </a:r>
                    </a:p>
                  </a:txBody>
                  <a:tcPr anchor="ctr"/>
                </a:tc>
                <a:tc>
                  <a:txBody>
                    <a:bodyPr/>
                    <a:lstStyle/>
                    <a:p>
                      <a:pPr algn="r">
                        <a:buNone/>
                      </a:pPr>
                      <a:r>
                        <a:rPr lang="es-CL"/>
                        <a:t>7</a:t>
                      </a:r>
                    </a:p>
                  </a:txBody>
                  <a:tcPr anchor="ctr"/>
                </a:tc>
                <a:tc>
                  <a:txBody>
                    <a:bodyPr/>
                    <a:lstStyle/>
                    <a:p>
                      <a:pPr algn="r">
                        <a:buNone/>
                      </a:pPr>
                      <a:r>
                        <a:rPr lang="es-CL"/>
                        <a:t>$110.000</a:t>
                      </a:r>
                    </a:p>
                  </a:txBody>
                  <a:tcPr anchor="ctr"/>
                </a:tc>
                <a:extLst>
                  <a:ext uri="{0D108BD9-81ED-4DB2-BD59-A6C34878D82A}">
                    <a16:rowId xmlns:a16="http://schemas.microsoft.com/office/drawing/2014/main" val="4132778477"/>
                  </a:ext>
                </a:extLst>
              </a:tr>
              <a:tr h="0">
                <a:tc>
                  <a:txBody>
                    <a:bodyPr/>
                    <a:lstStyle/>
                    <a:p>
                      <a:pPr>
                        <a:buNone/>
                      </a:pPr>
                      <a:r>
                        <a:rPr lang="es-CL"/>
                        <a:t>1005</a:t>
                      </a:r>
                    </a:p>
                  </a:txBody>
                  <a:tcPr anchor="ctr"/>
                </a:tc>
                <a:tc>
                  <a:txBody>
                    <a:bodyPr/>
                    <a:lstStyle/>
                    <a:p>
                      <a:pPr>
                        <a:buNone/>
                      </a:pPr>
                      <a:r>
                        <a:rPr lang="es-CL"/>
                        <a:t>María</a:t>
                      </a:r>
                    </a:p>
                  </a:txBody>
                  <a:tcPr anchor="ctr"/>
                </a:tc>
                <a:tc>
                  <a:txBody>
                    <a:bodyPr/>
                    <a:lstStyle/>
                    <a:p>
                      <a:pPr algn="r">
                        <a:buNone/>
                      </a:pPr>
                      <a:r>
                        <a:rPr lang="es-CL"/>
                        <a:t>36</a:t>
                      </a:r>
                    </a:p>
                  </a:txBody>
                  <a:tcPr anchor="ctr"/>
                </a:tc>
                <a:tc>
                  <a:txBody>
                    <a:bodyPr/>
                    <a:lstStyle/>
                    <a:p>
                      <a:pPr>
                        <a:buNone/>
                      </a:pPr>
                      <a:r>
                        <a:rPr lang="es-CL"/>
                        <a:t>Arica</a:t>
                      </a:r>
                    </a:p>
                  </a:txBody>
                  <a:tcPr anchor="ctr"/>
                </a:tc>
                <a:tc>
                  <a:txBody>
                    <a:bodyPr/>
                    <a:lstStyle/>
                    <a:p>
                      <a:pPr>
                        <a:buNone/>
                      </a:pPr>
                      <a:r>
                        <a:rPr lang="es-CL"/>
                        <a:t>B</a:t>
                      </a:r>
                    </a:p>
                  </a:txBody>
                  <a:tcPr anchor="ctr"/>
                </a:tc>
                <a:tc>
                  <a:txBody>
                    <a:bodyPr/>
                    <a:lstStyle/>
                    <a:p>
                      <a:pPr algn="r">
                        <a:buNone/>
                      </a:pPr>
                      <a:r>
                        <a:rPr lang="es-CL" dirty="0"/>
                        <a:t>10</a:t>
                      </a:r>
                    </a:p>
                  </a:txBody>
                  <a:tcPr anchor="ctr"/>
                </a:tc>
                <a:tc>
                  <a:txBody>
                    <a:bodyPr/>
                    <a:lstStyle/>
                    <a:p>
                      <a:pPr algn="r">
                        <a:buNone/>
                      </a:pPr>
                      <a:r>
                        <a:rPr lang="es-CL" dirty="0"/>
                        <a:t>$175.000</a:t>
                      </a:r>
                    </a:p>
                  </a:txBody>
                  <a:tcPr anchor="ctr"/>
                </a:tc>
                <a:extLst>
                  <a:ext uri="{0D108BD9-81ED-4DB2-BD59-A6C34878D82A}">
                    <a16:rowId xmlns:a16="http://schemas.microsoft.com/office/drawing/2014/main" val="64872911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16. PROMEDIO.SI.CONJUNTO</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Calcula un promedio usando dos o más criterios.</a:t>
            </a:r>
          </a:p>
        </p:txBody>
      </p:sp>
      <p:sp>
        <p:nvSpPr>
          <p:cNvPr id="4" name="TextBox 3"/>
          <p:cNvSpPr txBox="1"/>
          <p:nvPr/>
        </p:nvSpPr>
        <p:spPr>
          <a:xfrm>
            <a:off x="30481" y="1508760"/>
            <a:ext cx="7685771" cy="5657959"/>
          </a:xfrm>
          <a:prstGeom prst="rect">
            <a:avLst/>
          </a:prstGeom>
          <a:noFill/>
        </p:spPr>
        <p:txBody>
          <a:bodyPr wrap="square">
            <a:spAutoFit/>
          </a:bodyPr>
          <a:lstStyle/>
          <a:p>
            <a:pPr>
              <a:spcAft>
                <a:spcPts val="1000"/>
              </a:spcAft>
              <a:defRPr sz="1900"/>
            </a:pPr>
            <a:r>
              <a:rPr dirty="0" err="1"/>
              <a:t>Permite</a:t>
            </a:r>
            <a:r>
              <a:rPr dirty="0"/>
              <a:t> </a:t>
            </a:r>
            <a:r>
              <a:rPr dirty="0" err="1"/>
              <a:t>analizar</a:t>
            </a:r>
            <a:r>
              <a:rPr dirty="0"/>
              <a:t> </a:t>
            </a:r>
            <a:r>
              <a:rPr dirty="0" err="1"/>
              <a:t>grupos</a:t>
            </a:r>
            <a:r>
              <a:rPr dirty="0"/>
              <a:t> </a:t>
            </a:r>
            <a:r>
              <a:rPr dirty="0" err="1"/>
              <a:t>muy</a:t>
            </a:r>
            <a:r>
              <a:rPr dirty="0"/>
              <a:t> </a:t>
            </a:r>
            <a:r>
              <a:rPr dirty="0" err="1"/>
              <a:t>específicos</a:t>
            </a:r>
            <a:r>
              <a:rPr dirty="0"/>
              <a:t>.</a:t>
            </a:r>
          </a:p>
          <a:p>
            <a:pPr>
              <a:spcAft>
                <a:spcPts val="1000"/>
              </a:spcAft>
              <a:defRPr sz="1900"/>
            </a:pPr>
            <a:r>
              <a:rPr dirty="0"/>
              <a:t>Es </a:t>
            </a:r>
            <a:r>
              <a:rPr dirty="0" err="1"/>
              <a:t>especialmente</a:t>
            </a:r>
            <a:r>
              <a:rPr dirty="0"/>
              <a:t> </a:t>
            </a:r>
            <a:r>
              <a:rPr dirty="0" err="1"/>
              <a:t>útil</a:t>
            </a:r>
            <a:r>
              <a:rPr dirty="0"/>
              <a:t> para </a:t>
            </a:r>
            <a:r>
              <a:rPr dirty="0" err="1"/>
              <a:t>análisis</a:t>
            </a:r>
            <a:r>
              <a:rPr dirty="0"/>
              <a:t> </a:t>
            </a:r>
            <a:r>
              <a:rPr dirty="0" err="1"/>
              <a:t>comerciales</a:t>
            </a:r>
            <a:r>
              <a:rPr dirty="0"/>
              <a:t> y de </a:t>
            </a:r>
            <a:r>
              <a:rPr dirty="0" err="1"/>
              <a:t>gestión</a:t>
            </a:r>
            <a:r>
              <a:rPr dirty="0"/>
              <a:t>.</a:t>
            </a:r>
            <a:endParaRPr lang="es-CL" dirty="0"/>
          </a:p>
          <a:p>
            <a:r>
              <a:rPr lang="es-CL" dirty="0"/>
              <a:t>¿Cuál es el promedio de ventas de clientes de Arica que tienen satisfacción ≥ 9?</a:t>
            </a:r>
            <a:endParaRPr lang="es-CL" b="1" dirty="0"/>
          </a:p>
          <a:p>
            <a:r>
              <a:rPr lang="es-CL" b="1" dirty="0"/>
              <a:t>Fórmula:</a:t>
            </a:r>
          </a:p>
          <a:p>
            <a:r>
              <a:rPr lang="es-CL" dirty="0"/>
              <a:t>=PROMEDIO.SI.CONJUNTO(</a:t>
            </a:r>
          </a:p>
          <a:p>
            <a:r>
              <a:rPr lang="es-CL" dirty="0"/>
              <a:t>G2:G6;</a:t>
            </a:r>
          </a:p>
          <a:p>
            <a:r>
              <a:rPr lang="es-CL" dirty="0"/>
              <a:t>D2:D6;"Arica";</a:t>
            </a:r>
          </a:p>
          <a:p>
            <a:r>
              <a:rPr lang="es-CL" dirty="0"/>
              <a:t>F2:F6;"&gt;=9"</a:t>
            </a:r>
          </a:p>
          <a:p>
            <a:r>
              <a:rPr lang="es-CL" dirty="0"/>
              <a:t>)</a:t>
            </a:r>
          </a:p>
          <a:p>
            <a:r>
              <a:rPr lang="es-CL" dirty="0"/>
              <a:t>Cumplen:</a:t>
            </a:r>
          </a:p>
          <a:p>
            <a:pPr lvl="0"/>
            <a:r>
              <a:rPr lang="es-CL" dirty="0"/>
              <a:t>Carla → $150.000 </a:t>
            </a:r>
          </a:p>
          <a:p>
            <a:pPr lvl="0"/>
            <a:r>
              <a:rPr lang="es-CL" dirty="0"/>
              <a:t>María → $175.000 </a:t>
            </a:r>
          </a:p>
          <a:p>
            <a:r>
              <a:rPr lang="es-CL" b="1" dirty="0"/>
              <a:t>Cálculo:</a:t>
            </a:r>
          </a:p>
          <a:p>
            <a:r>
              <a:rPr lang="es-CL" dirty="0"/>
              <a:t>150.000 + 175.000</a:t>
            </a:r>
          </a:p>
          <a:p>
            <a:r>
              <a:rPr lang="es-CL" dirty="0"/>
              <a:t>-----------------</a:t>
            </a:r>
          </a:p>
          <a:p>
            <a:r>
              <a:rPr lang="es-CL" dirty="0"/>
              <a:t>       2</a:t>
            </a:r>
          </a:p>
          <a:p>
            <a:r>
              <a:rPr lang="es-CL" b="1" dirty="0"/>
              <a:t>Resultado:</a:t>
            </a:r>
          </a:p>
          <a:p>
            <a:r>
              <a:rPr lang="es-CL" b="1" dirty="0"/>
              <a:t>$162.500</a:t>
            </a:r>
            <a:endParaRPr lang="es-CL" dirty="0"/>
          </a:p>
          <a:p>
            <a:pPr>
              <a:spcAft>
                <a:spcPts val="1000"/>
              </a:spcAft>
              <a:defRPr sz="1900"/>
            </a:pPr>
            <a:endParaRPr dirty="0"/>
          </a:p>
        </p:txBody>
      </p:sp>
      <p:sp>
        <p:nvSpPr>
          <p:cNvPr id="5" name="TextBox 4"/>
          <p:cNvSpPr txBox="1"/>
          <p:nvPr/>
        </p:nvSpPr>
        <p:spPr>
          <a:xfrm>
            <a:off x="7406640" y="1600200"/>
            <a:ext cx="4114800" cy="1280160"/>
          </a:xfrm>
          <a:prstGeom prst="rect">
            <a:avLst/>
          </a:prstGeom>
          <a:noFill/>
        </p:spPr>
        <p:txBody>
          <a:bodyPr wrap="square">
            <a:spAutoFit/>
          </a:bodyPr>
          <a:lstStyle/>
          <a:p>
            <a:pPr>
              <a:defRPr sz="1600" b="1"/>
            </a:pPr>
            <a:r>
              <a:t>Fórmula</a:t>
            </a:r>
          </a:p>
          <a:p>
            <a:pPr>
              <a:defRPr sz="1800"/>
            </a:pPr>
            <a:r>
              <a:t>=PROMEDIO.SI.CONJUNTO(J2:J1001;D2:D1001;"Arica";L2:L1001;"Completada")</a:t>
            </a:r>
          </a:p>
        </p:txBody>
      </p:sp>
      <p:sp>
        <p:nvSpPr>
          <p:cNvPr id="6" name="TextBox 5"/>
          <p:cNvSpPr txBox="1"/>
          <p:nvPr/>
        </p:nvSpPr>
        <p:spPr>
          <a:xfrm>
            <a:off x="7406640" y="3063240"/>
            <a:ext cx="4114800" cy="2194560"/>
          </a:xfrm>
          <a:prstGeom prst="rect">
            <a:avLst/>
          </a:prstGeom>
          <a:noFill/>
        </p:spPr>
        <p:txBody>
          <a:bodyPr wrap="square">
            <a:spAutoFit/>
          </a:bodyPr>
          <a:lstStyle/>
          <a:p>
            <a:pPr>
              <a:defRPr sz="1600" b="1"/>
            </a:pPr>
            <a:r>
              <a:t>Aplicación</a:t>
            </a:r>
          </a:p>
          <a:p>
            <a:pPr>
              <a:defRPr sz="1700"/>
            </a:pPr>
            <a:r>
              <a:t>Ej.: promedio de ventas completadas en Arica.</a:t>
            </a:r>
          </a:p>
        </p:txBody>
      </p:sp>
      <p:graphicFrame>
        <p:nvGraphicFramePr>
          <p:cNvPr id="8" name="Tabla 7">
            <a:extLst>
              <a:ext uri="{FF2B5EF4-FFF2-40B4-BE49-F238E27FC236}">
                <a16:creationId xmlns:a16="http://schemas.microsoft.com/office/drawing/2014/main" id="{4989193F-DBDE-F421-1848-A978A581F547}"/>
              </a:ext>
            </a:extLst>
          </p:cNvPr>
          <p:cNvGraphicFramePr>
            <a:graphicFrameLocks noGrp="1"/>
          </p:cNvGraphicFramePr>
          <p:nvPr>
            <p:extLst>
              <p:ext uri="{D42A27DB-BD31-4B8C-83A1-F6EECF244321}">
                <p14:modId xmlns:p14="http://schemas.microsoft.com/office/powerpoint/2010/main" val="3372348220"/>
              </p:ext>
            </p:extLst>
          </p:nvPr>
        </p:nvGraphicFramePr>
        <p:xfrm>
          <a:off x="3931920" y="4036677"/>
          <a:ext cx="8229599" cy="2743200"/>
        </p:xfrm>
        <a:graphic>
          <a:graphicData uri="http://schemas.openxmlformats.org/drawingml/2006/table">
            <a:tbl>
              <a:tblPr>
                <a:tableStyleId>{5C22544A-7EE6-4342-B048-85BDC9FD1C3A}</a:tableStyleId>
              </a:tblPr>
              <a:tblGrid>
                <a:gridCol w="1175657">
                  <a:extLst>
                    <a:ext uri="{9D8B030D-6E8A-4147-A177-3AD203B41FA5}">
                      <a16:colId xmlns:a16="http://schemas.microsoft.com/office/drawing/2014/main" val="3956161029"/>
                    </a:ext>
                  </a:extLst>
                </a:gridCol>
                <a:gridCol w="1175657">
                  <a:extLst>
                    <a:ext uri="{9D8B030D-6E8A-4147-A177-3AD203B41FA5}">
                      <a16:colId xmlns:a16="http://schemas.microsoft.com/office/drawing/2014/main" val="1889280078"/>
                    </a:ext>
                  </a:extLst>
                </a:gridCol>
                <a:gridCol w="1175657">
                  <a:extLst>
                    <a:ext uri="{9D8B030D-6E8A-4147-A177-3AD203B41FA5}">
                      <a16:colId xmlns:a16="http://schemas.microsoft.com/office/drawing/2014/main" val="912981668"/>
                    </a:ext>
                  </a:extLst>
                </a:gridCol>
                <a:gridCol w="1175657">
                  <a:extLst>
                    <a:ext uri="{9D8B030D-6E8A-4147-A177-3AD203B41FA5}">
                      <a16:colId xmlns:a16="http://schemas.microsoft.com/office/drawing/2014/main" val="661241255"/>
                    </a:ext>
                  </a:extLst>
                </a:gridCol>
                <a:gridCol w="1175657">
                  <a:extLst>
                    <a:ext uri="{9D8B030D-6E8A-4147-A177-3AD203B41FA5}">
                      <a16:colId xmlns:a16="http://schemas.microsoft.com/office/drawing/2014/main" val="3239685712"/>
                    </a:ext>
                  </a:extLst>
                </a:gridCol>
                <a:gridCol w="1175657">
                  <a:extLst>
                    <a:ext uri="{9D8B030D-6E8A-4147-A177-3AD203B41FA5}">
                      <a16:colId xmlns:a16="http://schemas.microsoft.com/office/drawing/2014/main" val="3309441260"/>
                    </a:ext>
                  </a:extLst>
                </a:gridCol>
                <a:gridCol w="1175657">
                  <a:extLst>
                    <a:ext uri="{9D8B030D-6E8A-4147-A177-3AD203B41FA5}">
                      <a16:colId xmlns:a16="http://schemas.microsoft.com/office/drawing/2014/main" val="3030617486"/>
                    </a:ext>
                  </a:extLst>
                </a:gridCol>
              </a:tblGrid>
              <a:tr h="0">
                <a:tc>
                  <a:txBody>
                    <a:bodyPr/>
                    <a:lstStyle/>
                    <a:p>
                      <a:pPr>
                        <a:buNone/>
                      </a:pPr>
                      <a:r>
                        <a:rPr lang="es-CL"/>
                        <a:t>ID</a:t>
                      </a:r>
                    </a:p>
                  </a:txBody>
                  <a:tcPr anchor="ctr"/>
                </a:tc>
                <a:tc>
                  <a:txBody>
                    <a:bodyPr/>
                    <a:lstStyle/>
                    <a:p>
                      <a:pPr>
                        <a:buNone/>
                      </a:pPr>
                      <a:r>
                        <a:rPr lang="es-CL"/>
                        <a:t>Nombre</a:t>
                      </a:r>
                    </a:p>
                  </a:txBody>
                  <a:tcPr anchor="ctr"/>
                </a:tc>
                <a:tc>
                  <a:txBody>
                    <a:bodyPr/>
                    <a:lstStyle/>
                    <a:p>
                      <a:pPr algn="r">
                        <a:buNone/>
                      </a:pPr>
                      <a:r>
                        <a:rPr lang="es-CL"/>
                        <a:t>Edad</a:t>
                      </a:r>
                    </a:p>
                  </a:txBody>
                  <a:tcPr anchor="ctr"/>
                </a:tc>
                <a:tc>
                  <a:txBody>
                    <a:bodyPr/>
                    <a:lstStyle/>
                    <a:p>
                      <a:pPr>
                        <a:buNone/>
                      </a:pPr>
                      <a:r>
                        <a:rPr lang="es-CL"/>
                        <a:t>Ciudad</a:t>
                      </a:r>
                    </a:p>
                  </a:txBody>
                  <a:tcPr anchor="ctr"/>
                </a:tc>
                <a:tc>
                  <a:txBody>
                    <a:bodyPr/>
                    <a:lstStyle/>
                    <a:p>
                      <a:pPr>
                        <a:buNone/>
                      </a:pPr>
                      <a:r>
                        <a:rPr lang="es-CL"/>
                        <a:t>Categoría</a:t>
                      </a:r>
                    </a:p>
                  </a:txBody>
                  <a:tcPr anchor="ctr"/>
                </a:tc>
                <a:tc>
                  <a:txBody>
                    <a:bodyPr/>
                    <a:lstStyle/>
                    <a:p>
                      <a:pPr algn="r">
                        <a:buNone/>
                      </a:pPr>
                      <a:r>
                        <a:rPr lang="es-CL"/>
                        <a:t>Satisfacción</a:t>
                      </a:r>
                    </a:p>
                  </a:txBody>
                  <a:tcPr anchor="ctr"/>
                </a:tc>
                <a:tc>
                  <a:txBody>
                    <a:bodyPr/>
                    <a:lstStyle/>
                    <a:p>
                      <a:pPr algn="r">
                        <a:buNone/>
                      </a:pPr>
                      <a:r>
                        <a:rPr lang="es-CL"/>
                        <a:t>Ventas</a:t>
                      </a:r>
                    </a:p>
                  </a:txBody>
                  <a:tcPr anchor="ctr"/>
                </a:tc>
                <a:extLst>
                  <a:ext uri="{0D108BD9-81ED-4DB2-BD59-A6C34878D82A}">
                    <a16:rowId xmlns:a16="http://schemas.microsoft.com/office/drawing/2014/main" val="3691323112"/>
                  </a:ext>
                </a:extLst>
              </a:tr>
              <a:tr h="0">
                <a:tc>
                  <a:txBody>
                    <a:bodyPr/>
                    <a:lstStyle/>
                    <a:p>
                      <a:pPr>
                        <a:buNone/>
                      </a:pPr>
                      <a:r>
                        <a:rPr lang="es-CL"/>
                        <a:t>1001</a:t>
                      </a:r>
                    </a:p>
                  </a:txBody>
                  <a:tcPr anchor="ctr"/>
                </a:tc>
                <a:tc>
                  <a:txBody>
                    <a:bodyPr/>
                    <a:lstStyle/>
                    <a:p>
                      <a:pPr>
                        <a:buNone/>
                      </a:pPr>
                      <a:r>
                        <a:rPr lang="es-CL"/>
                        <a:t>Ana</a:t>
                      </a:r>
                    </a:p>
                  </a:txBody>
                  <a:tcPr anchor="ctr"/>
                </a:tc>
                <a:tc>
                  <a:txBody>
                    <a:bodyPr/>
                    <a:lstStyle/>
                    <a:p>
                      <a:pPr algn="r">
                        <a:buNone/>
                      </a:pPr>
                      <a:r>
                        <a:rPr lang="es-CL"/>
                        <a:t>25</a:t>
                      </a:r>
                    </a:p>
                  </a:txBody>
                  <a:tcPr anchor="ctr"/>
                </a:tc>
                <a:tc>
                  <a:txBody>
                    <a:bodyPr/>
                    <a:lstStyle/>
                    <a:p>
                      <a:pPr>
                        <a:buNone/>
                      </a:pPr>
                      <a:r>
                        <a:rPr lang="es-CL"/>
                        <a:t>Arica</a:t>
                      </a:r>
                    </a:p>
                  </a:txBody>
                  <a:tcPr anchor="ctr"/>
                </a:tc>
                <a:tc>
                  <a:txBody>
                    <a:bodyPr/>
                    <a:lstStyle/>
                    <a:p>
                      <a:pPr>
                        <a:buNone/>
                      </a:pPr>
                      <a:r>
                        <a:rPr lang="es-CL"/>
                        <a:t>A</a:t>
                      </a:r>
                    </a:p>
                  </a:txBody>
                  <a:tcPr anchor="ctr"/>
                </a:tc>
                <a:tc>
                  <a:txBody>
                    <a:bodyPr/>
                    <a:lstStyle/>
                    <a:p>
                      <a:pPr algn="r">
                        <a:buNone/>
                      </a:pPr>
                      <a:r>
                        <a:rPr lang="es-CL"/>
                        <a:t>8</a:t>
                      </a:r>
                    </a:p>
                  </a:txBody>
                  <a:tcPr anchor="ctr"/>
                </a:tc>
                <a:tc>
                  <a:txBody>
                    <a:bodyPr/>
                    <a:lstStyle/>
                    <a:p>
                      <a:pPr algn="r">
                        <a:buNone/>
                      </a:pPr>
                      <a:r>
                        <a:rPr lang="es-CL"/>
                        <a:t>$120.000</a:t>
                      </a:r>
                    </a:p>
                  </a:txBody>
                  <a:tcPr anchor="ctr"/>
                </a:tc>
                <a:extLst>
                  <a:ext uri="{0D108BD9-81ED-4DB2-BD59-A6C34878D82A}">
                    <a16:rowId xmlns:a16="http://schemas.microsoft.com/office/drawing/2014/main" val="3738746753"/>
                  </a:ext>
                </a:extLst>
              </a:tr>
              <a:tr h="0">
                <a:tc>
                  <a:txBody>
                    <a:bodyPr/>
                    <a:lstStyle/>
                    <a:p>
                      <a:pPr>
                        <a:buNone/>
                      </a:pPr>
                      <a:r>
                        <a:rPr lang="es-CL"/>
                        <a:t>1002</a:t>
                      </a:r>
                    </a:p>
                  </a:txBody>
                  <a:tcPr anchor="ctr"/>
                </a:tc>
                <a:tc>
                  <a:txBody>
                    <a:bodyPr/>
                    <a:lstStyle/>
                    <a:p>
                      <a:pPr>
                        <a:buNone/>
                      </a:pPr>
                      <a:r>
                        <a:rPr lang="es-CL"/>
                        <a:t>Luis</a:t>
                      </a:r>
                    </a:p>
                  </a:txBody>
                  <a:tcPr anchor="ctr"/>
                </a:tc>
                <a:tc>
                  <a:txBody>
                    <a:bodyPr/>
                    <a:lstStyle/>
                    <a:p>
                      <a:pPr algn="r">
                        <a:buNone/>
                      </a:pPr>
                      <a:r>
                        <a:rPr lang="es-CL"/>
                        <a:t>34</a:t>
                      </a:r>
                    </a:p>
                  </a:txBody>
                  <a:tcPr anchor="ctr"/>
                </a:tc>
                <a:tc>
                  <a:txBody>
                    <a:bodyPr/>
                    <a:lstStyle/>
                    <a:p>
                      <a:pPr>
                        <a:buNone/>
                      </a:pPr>
                      <a:r>
                        <a:rPr lang="es-CL"/>
                        <a:t>Iquique</a:t>
                      </a:r>
                    </a:p>
                  </a:txBody>
                  <a:tcPr anchor="ctr"/>
                </a:tc>
                <a:tc>
                  <a:txBody>
                    <a:bodyPr/>
                    <a:lstStyle/>
                    <a:p>
                      <a:pPr>
                        <a:buNone/>
                      </a:pPr>
                      <a:r>
                        <a:rPr lang="es-CL"/>
                        <a:t>B</a:t>
                      </a:r>
                    </a:p>
                  </a:txBody>
                  <a:tcPr anchor="ctr"/>
                </a:tc>
                <a:tc>
                  <a:txBody>
                    <a:bodyPr/>
                    <a:lstStyle/>
                    <a:p>
                      <a:pPr algn="r">
                        <a:buNone/>
                      </a:pPr>
                      <a:r>
                        <a:rPr lang="es-CL"/>
                        <a:t>6</a:t>
                      </a:r>
                    </a:p>
                  </a:txBody>
                  <a:tcPr anchor="ctr"/>
                </a:tc>
                <a:tc>
                  <a:txBody>
                    <a:bodyPr/>
                    <a:lstStyle/>
                    <a:p>
                      <a:pPr algn="r">
                        <a:buNone/>
                      </a:pPr>
                      <a:r>
                        <a:rPr lang="es-CL"/>
                        <a:t>$95.000</a:t>
                      </a:r>
                    </a:p>
                  </a:txBody>
                  <a:tcPr anchor="ctr"/>
                </a:tc>
                <a:extLst>
                  <a:ext uri="{0D108BD9-81ED-4DB2-BD59-A6C34878D82A}">
                    <a16:rowId xmlns:a16="http://schemas.microsoft.com/office/drawing/2014/main" val="3275112674"/>
                  </a:ext>
                </a:extLst>
              </a:tr>
              <a:tr h="0">
                <a:tc>
                  <a:txBody>
                    <a:bodyPr/>
                    <a:lstStyle/>
                    <a:p>
                      <a:pPr>
                        <a:buNone/>
                      </a:pPr>
                      <a:r>
                        <a:rPr lang="es-CL"/>
                        <a:t>1003</a:t>
                      </a:r>
                    </a:p>
                  </a:txBody>
                  <a:tcPr anchor="ctr"/>
                </a:tc>
                <a:tc>
                  <a:txBody>
                    <a:bodyPr/>
                    <a:lstStyle/>
                    <a:p>
                      <a:pPr>
                        <a:buNone/>
                      </a:pPr>
                      <a:r>
                        <a:rPr lang="es-CL"/>
                        <a:t>Carla</a:t>
                      </a:r>
                    </a:p>
                  </a:txBody>
                  <a:tcPr anchor="ctr"/>
                </a:tc>
                <a:tc>
                  <a:txBody>
                    <a:bodyPr/>
                    <a:lstStyle/>
                    <a:p>
                      <a:pPr algn="r">
                        <a:buNone/>
                      </a:pPr>
                      <a:r>
                        <a:rPr lang="es-CL"/>
                        <a:t>29</a:t>
                      </a:r>
                    </a:p>
                  </a:txBody>
                  <a:tcPr anchor="ctr"/>
                </a:tc>
                <a:tc>
                  <a:txBody>
                    <a:bodyPr/>
                    <a:lstStyle/>
                    <a:p>
                      <a:pPr>
                        <a:buNone/>
                      </a:pPr>
                      <a:r>
                        <a:rPr lang="es-CL"/>
                        <a:t>Arica</a:t>
                      </a:r>
                    </a:p>
                  </a:txBody>
                  <a:tcPr anchor="ctr"/>
                </a:tc>
                <a:tc>
                  <a:txBody>
                    <a:bodyPr/>
                    <a:lstStyle/>
                    <a:p>
                      <a:pPr>
                        <a:buNone/>
                      </a:pPr>
                      <a:r>
                        <a:rPr lang="es-CL" dirty="0"/>
                        <a:t>A</a:t>
                      </a:r>
                    </a:p>
                  </a:txBody>
                  <a:tcPr anchor="ctr"/>
                </a:tc>
                <a:tc>
                  <a:txBody>
                    <a:bodyPr/>
                    <a:lstStyle/>
                    <a:p>
                      <a:pPr algn="r">
                        <a:buNone/>
                      </a:pPr>
                      <a:r>
                        <a:rPr lang="es-CL"/>
                        <a:t>9</a:t>
                      </a:r>
                    </a:p>
                  </a:txBody>
                  <a:tcPr anchor="ctr"/>
                </a:tc>
                <a:tc>
                  <a:txBody>
                    <a:bodyPr/>
                    <a:lstStyle/>
                    <a:p>
                      <a:pPr algn="r">
                        <a:buNone/>
                      </a:pPr>
                      <a:r>
                        <a:rPr lang="es-CL"/>
                        <a:t>$150.000</a:t>
                      </a:r>
                    </a:p>
                  </a:txBody>
                  <a:tcPr anchor="ctr"/>
                </a:tc>
                <a:extLst>
                  <a:ext uri="{0D108BD9-81ED-4DB2-BD59-A6C34878D82A}">
                    <a16:rowId xmlns:a16="http://schemas.microsoft.com/office/drawing/2014/main" val="3043743300"/>
                  </a:ext>
                </a:extLst>
              </a:tr>
              <a:tr h="0">
                <a:tc>
                  <a:txBody>
                    <a:bodyPr/>
                    <a:lstStyle/>
                    <a:p>
                      <a:pPr>
                        <a:buNone/>
                      </a:pPr>
                      <a:r>
                        <a:rPr lang="es-CL"/>
                        <a:t>1004</a:t>
                      </a:r>
                    </a:p>
                  </a:txBody>
                  <a:tcPr anchor="ctr"/>
                </a:tc>
                <a:tc>
                  <a:txBody>
                    <a:bodyPr/>
                    <a:lstStyle/>
                    <a:p>
                      <a:pPr>
                        <a:buNone/>
                      </a:pPr>
                      <a:r>
                        <a:rPr lang="es-CL"/>
                        <a:t>Pedro</a:t>
                      </a:r>
                    </a:p>
                  </a:txBody>
                  <a:tcPr anchor="ctr"/>
                </a:tc>
                <a:tc>
                  <a:txBody>
                    <a:bodyPr/>
                    <a:lstStyle/>
                    <a:p>
                      <a:pPr algn="r">
                        <a:buNone/>
                      </a:pPr>
                      <a:r>
                        <a:rPr lang="es-CL"/>
                        <a:t>41</a:t>
                      </a:r>
                    </a:p>
                  </a:txBody>
                  <a:tcPr anchor="ctr"/>
                </a:tc>
                <a:tc>
                  <a:txBody>
                    <a:bodyPr/>
                    <a:lstStyle/>
                    <a:p>
                      <a:pPr>
                        <a:buNone/>
                      </a:pPr>
                      <a:r>
                        <a:rPr lang="es-CL"/>
                        <a:t>Antofagasta</a:t>
                      </a:r>
                    </a:p>
                  </a:txBody>
                  <a:tcPr anchor="ctr"/>
                </a:tc>
                <a:tc>
                  <a:txBody>
                    <a:bodyPr/>
                    <a:lstStyle/>
                    <a:p>
                      <a:pPr>
                        <a:buNone/>
                      </a:pPr>
                      <a:r>
                        <a:rPr lang="es-CL" dirty="0"/>
                        <a:t>C</a:t>
                      </a:r>
                    </a:p>
                  </a:txBody>
                  <a:tcPr anchor="ctr"/>
                </a:tc>
                <a:tc>
                  <a:txBody>
                    <a:bodyPr/>
                    <a:lstStyle/>
                    <a:p>
                      <a:pPr algn="r">
                        <a:buNone/>
                      </a:pPr>
                      <a:r>
                        <a:rPr lang="es-CL"/>
                        <a:t>7</a:t>
                      </a:r>
                    </a:p>
                  </a:txBody>
                  <a:tcPr anchor="ctr"/>
                </a:tc>
                <a:tc>
                  <a:txBody>
                    <a:bodyPr/>
                    <a:lstStyle/>
                    <a:p>
                      <a:pPr algn="r">
                        <a:buNone/>
                      </a:pPr>
                      <a:r>
                        <a:rPr lang="es-CL"/>
                        <a:t>$110.000</a:t>
                      </a:r>
                    </a:p>
                  </a:txBody>
                  <a:tcPr anchor="ctr"/>
                </a:tc>
                <a:extLst>
                  <a:ext uri="{0D108BD9-81ED-4DB2-BD59-A6C34878D82A}">
                    <a16:rowId xmlns:a16="http://schemas.microsoft.com/office/drawing/2014/main" val="4132778477"/>
                  </a:ext>
                </a:extLst>
              </a:tr>
              <a:tr h="0">
                <a:tc>
                  <a:txBody>
                    <a:bodyPr/>
                    <a:lstStyle/>
                    <a:p>
                      <a:pPr>
                        <a:buNone/>
                      </a:pPr>
                      <a:r>
                        <a:rPr lang="es-CL"/>
                        <a:t>1005</a:t>
                      </a:r>
                    </a:p>
                  </a:txBody>
                  <a:tcPr anchor="ctr"/>
                </a:tc>
                <a:tc>
                  <a:txBody>
                    <a:bodyPr/>
                    <a:lstStyle/>
                    <a:p>
                      <a:pPr>
                        <a:buNone/>
                      </a:pPr>
                      <a:r>
                        <a:rPr lang="es-CL"/>
                        <a:t>María</a:t>
                      </a:r>
                    </a:p>
                  </a:txBody>
                  <a:tcPr anchor="ctr"/>
                </a:tc>
                <a:tc>
                  <a:txBody>
                    <a:bodyPr/>
                    <a:lstStyle/>
                    <a:p>
                      <a:pPr algn="r">
                        <a:buNone/>
                      </a:pPr>
                      <a:r>
                        <a:rPr lang="es-CL"/>
                        <a:t>36</a:t>
                      </a:r>
                    </a:p>
                  </a:txBody>
                  <a:tcPr anchor="ctr"/>
                </a:tc>
                <a:tc>
                  <a:txBody>
                    <a:bodyPr/>
                    <a:lstStyle/>
                    <a:p>
                      <a:pPr>
                        <a:buNone/>
                      </a:pPr>
                      <a:r>
                        <a:rPr lang="es-CL"/>
                        <a:t>Arica</a:t>
                      </a:r>
                    </a:p>
                  </a:txBody>
                  <a:tcPr anchor="ctr"/>
                </a:tc>
                <a:tc>
                  <a:txBody>
                    <a:bodyPr/>
                    <a:lstStyle/>
                    <a:p>
                      <a:pPr>
                        <a:buNone/>
                      </a:pPr>
                      <a:r>
                        <a:rPr lang="es-CL"/>
                        <a:t>B</a:t>
                      </a:r>
                    </a:p>
                  </a:txBody>
                  <a:tcPr anchor="ctr"/>
                </a:tc>
                <a:tc>
                  <a:txBody>
                    <a:bodyPr/>
                    <a:lstStyle/>
                    <a:p>
                      <a:pPr algn="r">
                        <a:buNone/>
                      </a:pPr>
                      <a:r>
                        <a:rPr lang="es-CL" dirty="0"/>
                        <a:t>10</a:t>
                      </a:r>
                    </a:p>
                  </a:txBody>
                  <a:tcPr anchor="ctr"/>
                </a:tc>
                <a:tc>
                  <a:txBody>
                    <a:bodyPr/>
                    <a:lstStyle/>
                    <a:p>
                      <a:pPr algn="r">
                        <a:buNone/>
                      </a:pPr>
                      <a:r>
                        <a:rPr lang="es-CL" dirty="0"/>
                        <a:t>$175.000</a:t>
                      </a:r>
                    </a:p>
                  </a:txBody>
                  <a:tcPr anchor="ctr"/>
                </a:tc>
                <a:extLst>
                  <a:ext uri="{0D108BD9-81ED-4DB2-BD59-A6C34878D82A}">
                    <a16:rowId xmlns:a16="http://schemas.microsoft.com/office/drawing/2014/main" val="64872911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17. DESVEST.M</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Calcula la desviación estándar de una muestra.</a:t>
            </a:r>
          </a:p>
        </p:txBody>
      </p:sp>
      <p:sp>
        <p:nvSpPr>
          <p:cNvPr id="4" name="TextBox 3"/>
          <p:cNvSpPr txBox="1"/>
          <p:nvPr/>
        </p:nvSpPr>
        <p:spPr>
          <a:xfrm>
            <a:off x="731520" y="1508760"/>
            <a:ext cx="7148752" cy="5411738"/>
          </a:xfrm>
          <a:prstGeom prst="rect">
            <a:avLst/>
          </a:prstGeom>
          <a:noFill/>
        </p:spPr>
        <p:txBody>
          <a:bodyPr wrap="none">
            <a:spAutoFit/>
          </a:bodyPr>
          <a:lstStyle/>
          <a:p>
            <a:pPr>
              <a:spcAft>
                <a:spcPts val="1000"/>
              </a:spcAft>
              <a:defRPr sz="1900"/>
            </a:pPr>
            <a:r>
              <a:rPr dirty="0"/>
              <a:t>Mide </a:t>
            </a:r>
            <a:r>
              <a:rPr dirty="0" err="1"/>
              <a:t>qué</a:t>
            </a:r>
            <a:r>
              <a:rPr dirty="0"/>
              <a:t> tan </a:t>
            </a:r>
            <a:r>
              <a:rPr dirty="0" err="1"/>
              <a:t>dispersos</a:t>
            </a:r>
            <a:r>
              <a:rPr dirty="0"/>
              <a:t> </a:t>
            </a:r>
            <a:r>
              <a:rPr dirty="0" err="1"/>
              <a:t>están</a:t>
            </a:r>
            <a:r>
              <a:rPr dirty="0"/>
              <a:t> </a:t>
            </a:r>
            <a:r>
              <a:rPr dirty="0" err="1"/>
              <a:t>los</a:t>
            </a:r>
            <a:r>
              <a:rPr dirty="0"/>
              <a:t> </a:t>
            </a:r>
            <a:r>
              <a:rPr dirty="0" err="1"/>
              <a:t>datos</a:t>
            </a:r>
            <a:r>
              <a:rPr dirty="0"/>
              <a:t> </a:t>
            </a:r>
            <a:r>
              <a:rPr dirty="0" err="1"/>
              <a:t>respecto</a:t>
            </a:r>
            <a:r>
              <a:rPr dirty="0"/>
              <a:t> del </a:t>
            </a:r>
            <a:r>
              <a:rPr dirty="0" err="1"/>
              <a:t>promedio</a:t>
            </a:r>
            <a:r>
              <a:rPr dirty="0"/>
              <a:t>.</a:t>
            </a:r>
          </a:p>
          <a:p>
            <a:pPr>
              <a:spcAft>
                <a:spcPts val="1000"/>
              </a:spcAft>
              <a:defRPr sz="1900"/>
            </a:pPr>
            <a:r>
              <a:rPr dirty="0"/>
              <a:t>Una </a:t>
            </a:r>
            <a:r>
              <a:rPr dirty="0" err="1"/>
              <a:t>desviación</a:t>
            </a:r>
            <a:r>
              <a:rPr dirty="0"/>
              <a:t> </a:t>
            </a:r>
            <a:r>
              <a:rPr dirty="0" err="1"/>
              <a:t>estándar</a:t>
            </a:r>
            <a:r>
              <a:rPr dirty="0"/>
              <a:t> </a:t>
            </a:r>
            <a:r>
              <a:rPr dirty="0" err="1"/>
              <a:t>alta</a:t>
            </a:r>
            <a:r>
              <a:rPr dirty="0"/>
              <a:t> indica mayor </a:t>
            </a:r>
            <a:r>
              <a:rPr dirty="0" err="1"/>
              <a:t>variabilidad</a:t>
            </a:r>
            <a:r>
              <a:rPr dirty="0"/>
              <a:t>.</a:t>
            </a:r>
            <a:endParaRPr lang="es-CL" dirty="0"/>
          </a:p>
          <a:p>
            <a:pPr>
              <a:spcAft>
                <a:spcPts val="1000"/>
              </a:spcAft>
              <a:defRPr sz="1900"/>
            </a:pPr>
            <a:r>
              <a:rPr lang="es-CL" dirty="0"/>
              <a:t>Edades:</a:t>
            </a:r>
          </a:p>
          <a:p>
            <a:pPr>
              <a:spcAft>
                <a:spcPts val="1000"/>
              </a:spcAft>
              <a:defRPr sz="1900"/>
            </a:pPr>
            <a:r>
              <a:rPr lang="es-CL" dirty="0"/>
              <a:t>25</a:t>
            </a:r>
          </a:p>
          <a:p>
            <a:pPr>
              <a:spcAft>
                <a:spcPts val="1000"/>
              </a:spcAft>
              <a:defRPr sz="1900"/>
            </a:pPr>
            <a:r>
              <a:rPr lang="es-CL" dirty="0"/>
              <a:t>34</a:t>
            </a:r>
          </a:p>
          <a:p>
            <a:pPr>
              <a:spcAft>
                <a:spcPts val="1000"/>
              </a:spcAft>
              <a:defRPr sz="1900"/>
            </a:pPr>
            <a:r>
              <a:rPr lang="es-CL" dirty="0"/>
              <a:t>29</a:t>
            </a:r>
          </a:p>
          <a:p>
            <a:pPr>
              <a:spcAft>
                <a:spcPts val="1000"/>
              </a:spcAft>
              <a:defRPr sz="1900"/>
            </a:pPr>
            <a:r>
              <a:rPr lang="es-CL" dirty="0"/>
              <a:t>41</a:t>
            </a:r>
          </a:p>
          <a:p>
            <a:pPr>
              <a:spcAft>
                <a:spcPts val="1000"/>
              </a:spcAft>
              <a:defRPr sz="1900"/>
            </a:pPr>
            <a:r>
              <a:rPr lang="es-CL" dirty="0"/>
              <a:t>36</a:t>
            </a:r>
          </a:p>
          <a:p>
            <a:r>
              <a:rPr lang="es-CL" dirty="0"/>
              <a:t>Resultado aproximado:</a:t>
            </a:r>
          </a:p>
          <a:p>
            <a:r>
              <a:rPr lang="es-CL" b="1" dirty="0"/>
              <a:t>6,16</a:t>
            </a:r>
            <a:endParaRPr lang="es-CL" dirty="0"/>
          </a:p>
          <a:p>
            <a:r>
              <a:rPr lang="es-CL" b="1" dirty="0"/>
              <a:t>Interpretación</a:t>
            </a:r>
          </a:p>
          <a:p>
            <a:r>
              <a:rPr lang="es-CL" dirty="0"/>
              <a:t>Las edades presentan una desviación estándar aproximada de:</a:t>
            </a:r>
          </a:p>
          <a:p>
            <a:r>
              <a:rPr lang="es-CL" b="1" dirty="0"/>
              <a:t>6,16 años</a:t>
            </a:r>
            <a:endParaRPr lang="es-CL" dirty="0"/>
          </a:p>
          <a:p>
            <a:r>
              <a:rPr lang="es-CL" dirty="0"/>
              <a:t>Esto significa que existe cierta variabilidad alrededor de la edad promedio.</a:t>
            </a:r>
          </a:p>
          <a:p>
            <a:pPr>
              <a:spcAft>
                <a:spcPts val="1000"/>
              </a:spcAft>
              <a:defRPr sz="1900"/>
            </a:pPr>
            <a:endParaRPr dirty="0"/>
          </a:p>
        </p:txBody>
      </p:sp>
      <p:sp>
        <p:nvSpPr>
          <p:cNvPr id="5" name="TextBox 4"/>
          <p:cNvSpPr txBox="1"/>
          <p:nvPr/>
        </p:nvSpPr>
        <p:spPr>
          <a:xfrm>
            <a:off x="7406640" y="1600200"/>
            <a:ext cx="4114800" cy="1280160"/>
          </a:xfrm>
          <a:prstGeom prst="rect">
            <a:avLst/>
          </a:prstGeom>
          <a:noFill/>
        </p:spPr>
        <p:txBody>
          <a:bodyPr wrap="square">
            <a:spAutoFit/>
          </a:bodyPr>
          <a:lstStyle/>
          <a:p>
            <a:pPr>
              <a:defRPr sz="1600" b="1"/>
            </a:pPr>
            <a:r>
              <a:t>Fórmula</a:t>
            </a:r>
          </a:p>
          <a:p>
            <a:pPr>
              <a:defRPr sz="1800"/>
            </a:pPr>
            <a:r>
              <a:t>=DESVEST.M(J2:J1001)</a:t>
            </a:r>
          </a:p>
        </p:txBody>
      </p:sp>
      <p:sp>
        <p:nvSpPr>
          <p:cNvPr id="6" name="TextBox 5"/>
          <p:cNvSpPr txBox="1"/>
          <p:nvPr/>
        </p:nvSpPr>
        <p:spPr>
          <a:xfrm>
            <a:off x="7406640" y="3063240"/>
            <a:ext cx="4114800" cy="2508379"/>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variabilidad</a:t>
            </a:r>
            <a:r>
              <a:rPr dirty="0"/>
              <a:t> de </a:t>
            </a:r>
            <a:r>
              <a:rPr dirty="0" err="1"/>
              <a:t>los</a:t>
            </a:r>
            <a:r>
              <a:rPr dirty="0"/>
              <a:t> </a:t>
            </a:r>
            <a:r>
              <a:rPr dirty="0" err="1"/>
              <a:t>montos</a:t>
            </a:r>
            <a:r>
              <a:rPr dirty="0"/>
              <a:t> de </a:t>
            </a:r>
            <a:r>
              <a:rPr dirty="0" err="1"/>
              <a:t>venta</a:t>
            </a:r>
            <a:r>
              <a:rPr dirty="0"/>
              <a:t>.</a:t>
            </a:r>
            <a:endParaRPr lang="es-CL" dirty="0"/>
          </a:p>
          <a:p>
            <a:pPr>
              <a:defRPr sz="1700"/>
            </a:pPr>
            <a:endParaRPr lang="es-CL" dirty="0"/>
          </a:p>
          <a:p>
            <a:r>
              <a:rPr lang="es-CL" b="1" dirty="0"/>
              <a:t>Desviación estándar pequeña</a:t>
            </a:r>
          </a:p>
          <a:p>
            <a:r>
              <a:rPr lang="es-CL" dirty="0"/>
              <a:t>Los datos están relativamente juntos.</a:t>
            </a:r>
          </a:p>
          <a:p>
            <a:endParaRPr lang="es-CL" b="1" dirty="0"/>
          </a:p>
          <a:p>
            <a:r>
              <a:rPr lang="es-CL" b="1" dirty="0"/>
              <a:t>Desviación estándar grande</a:t>
            </a:r>
          </a:p>
          <a:p>
            <a:r>
              <a:rPr lang="es-CL" dirty="0"/>
              <a:t>Los datos están más separados.</a:t>
            </a:r>
          </a:p>
          <a:p>
            <a:pPr>
              <a:defRPr sz="1700"/>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4584140" cy="523220"/>
          </a:xfrm>
          <a:prstGeom prst="rect">
            <a:avLst/>
          </a:prstGeom>
          <a:noFill/>
        </p:spPr>
        <p:txBody>
          <a:bodyPr wrap="none">
            <a:spAutoFit/>
          </a:bodyPr>
          <a:lstStyle/>
          <a:p>
            <a:pPr>
              <a:defRPr sz="2800" b="1"/>
            </a:pPr>
            <a:r>
              <a:rPr dirty="0"/>
              <a:t>18. VAR.S</a:t>
            </a:r>
            <a:r>
              <a:rPr lang="es-CL" dirty="0"/>
              <a:t> (Varianza muestral)</a:t>
            </a:r>
            <a:endParaRPr dirty="0"/>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Calcula la varianza de una muestra.</a:t>
            </a:r>
          </a:p>
        </p:txBody>
      </p:sp>
      <p:sp>
        <p:nvSpPr>
          <p:cNvPr id="4" name="TextBox 3"/>
          <p:cNvSpPr txBox="1"/>
          <p:nvPr/>
        </p:nvSpPr>
        <p:spPr>
          <a:xfrm>
            <a:off x="731521" y="1508760"/>
            <a:ext cx="7209321" cy="805349"/>
          </a:xfrm>
          <a:prstGeom prst="rect">
            <a:avLst/>
          </a:prstGeom>
          <a:noFill/>
        </p:spPr>
        <p:txBody>
          <a:bodyPr wrap="square">
            <a:spAutoFit/>
          </a:bodyPr>
          <a:lstStyle/>
          <a:p>
            <a:pPr>
              <a:spcAft>
                <a:spcPts val="1000"/>
              </a:spcAft>
              <a:defRPr sz="1900"/>
            </a:pPr>
            <a:r>
              <a:rPr dirty="0"/>
              <a:t>Mide la </a:t>
            </a:r>
            <a:r>
              <a:rPr dirty="0" err="1"/>
              <a:t>dispersión</a:t>
            </a:r>
            <a:r>
              <a:rPr dirty="0"/>
              <a:t> de </a:t>
            </a:r>
            <a:r>
              <a:rPr dirty="0" err="1"/>
              <a:t>los</a:t>
            </a:r>
            <a:r>
              <a:rPr dirty="0"/>
              <a:t> </a:t>
            </a:r>
            <a:r>
              <a:rPr dirty="0" err="1"/>
              <a:t>datos</a:t>
            </a:r>
            <a:r>
              <a:rPr dirty="0"/>
              <a:t> </a:t>
            </a:r>
            <a:r>
              <a:rPr dirty="0" err="1"/>
              <a:t>respecto</a:t>
            </a:r>
            <a:r>
              <a:rPr dirty="0"/>
              <a:t> del </a:t>
            </a:r>
            <a:r>
              <a:rPr dirty="0" err="1"/>
              <a:t>promedio</a:t>
            </a:r>
            <a:r>
              <a:rPr dirty="0"/>
              <a:t>.</a:t>
            </a:r>
          </a:p>
          <a:p>
            <a:pPr>
              <a:spcAft>
                <a:spcPts val="1000"/>
              </a:spcAft>
              <a:defRPr sz="1900"/>
            </a:pPr>
            <a:r>
              <a:rPr dirty="0"/>
              <a:t>Es la base </a:t>
            </a:r>
            <a:r>
              <a:rPr dirty="0" err="1"/>
              <a:t>cuadrática</a:t>
            </a:r>
            <a:r>
              <a:rPr dirty="0"/>
              <a:t> de la </a:t>
            </a:r>
            <a:r>
              <a:rPr dirty="0" err="1"/>
              <a:t>desviación</a:t>
            </a:r>
            <a:r>
              <a:rPr dirty="0"/>
              <a:t> </a:t>
            </a:r>
            <a:r>
              <a:rPr dirty="0" err="1"/>
              <a:t>estándar</a:t>
            </a:r>
            <a:r>
              <a:rPr dirty="0"/>
              <a:t>.</a:t>
            </a:r>
            <a:r>
              <a:rPr lang="es-CL" sz="1900" dirty="0">
                <a:hlinkClick r:id="rId2"/>
              </a:rPr>
              <a:t> </a:t>
            </a:r>
            <a:endParaRPr lang="es-CL" dirty="0"/>
          </a:p>
        </p:txBody>
      </p:sp>
      <p:sp>
        <p:nvSpPr>
          <p:cNvPr id="5" name="TextBox 4"/>
          <p:cNvSpPr txBox="1"/>
          <p:nvPr/>
        </p:nvSpPr>
        <p:spPr>
          <a:xfrm>
            <a:off x="8353124" y="1818711"/>
            <a:ext cx="4114800" cy="1280160"/>
          </a:xfrm>
          <a:prstGeom prst="rect">
            <a:avLst/>
          </a:prstGeom>
          <a:noFill/>
        </p:spPr>
        <p:txBody>
          <a:bodyPr wrap="square">
            <a:spAutoFit/>
          </a:bodyPr>
          <a:lstStyle/>
          <a:p>
            <a:pPr>
              <a:defRPr sz="1600" b="1"/>
            </a:pPr>
            <a:r>
              <a:rPr dirty="0" err="1"/>
              <a:t>Fórmula</a:t>
            </a:r>
            <a:endParaRPr dirty="0"/>
          </a:p>
          <a:p>
            <a:pPr>
              <a:defRPr sz="1800"/>
            </a:pPr>
            <a:r>
              <a:rPr dirty="0"/>
              <a:t>=VAR.S(J2:J1001)</a:t>
            </a:r>
          </a:p>
        </p:txBody>
      </p:sp>
      <p:sp>
        <p:nvSpPr>
          <p:cNvPr id="6" name="TextBox 5"/>
          <p:cNvSpPr txBox="1"/>
          <p:nvPr/>
        </p:nvSpPr>
        <p:spPr>
          <a:xfrm>
            <a:off x="8353124" y="3674908"/>
            <a:ext cx="4114800" cy="2194560"/>
          </a:xfrm>
          <a:prstGeom prst="rect">
            <a:avLst/>
          </a:prstGeom>
          <a:noFill/>
        </p:spPr>
        <p:txBody>
          <a:bodyPr wrap="square">
            <a:spAutoFit/>
          </a:bodyPr>
          <a:lstStyle/>
          <a:p>
            <a:pPr>
              <a:defRPr sz="1600" b="1"/>
            </a:pPr>
            <a:r>
              <a:rPr dirty="0" err="1"/>
              <a:t>Aplicación</a:t>
            </a:r>
            <a:endParaRPr dirty="0"/>
          </a:p>
          <a:p>
            <a:pPr>
              <a:defRPr sz="1700"/>
            </a:pPr>
            <a:r>
              <a:rPr dirty="0" err="1"/>
              <a:t>Ej</a:t>
            </a:r>
            <a:r>
              <a:rPr dirty="0"/>
              <a:t>.: </a:t>
            </a:r>
            <a:r>
              <a:rPr dirty="0" err="1"/>
              <a:t>variabilidad</a:t>
            </a:r>
            <a:r>
              <a:rPr dirty="0"/>
              <a:t> de </a:t>
            </a:r>
            <a:r>
              <a:rPr dirty="0" err="1"/>
              <a:t>los</a:t>
            </a:r>
            <a:r>
              <a:rPr dirty="0"/>
              <a:t> </a:t>
            </a:r>
            <a:r>
              <a:rPr dirty="0" err="1"/>
              <a:t>Totales</a:t>
            </a:r>
            <a:r>
              <a:rPr dirty="0"/>
              <a:t> de </a:t>
            </a:r>
            <a:r>
              <a:rPr dirty="0" err="1"/>
              <a:t>venta</a:t>
            </a:r>
            <a:r>
              <a:rPr dirty="0"/>
              <a:t>.</a:t>
            </a:r>
          </a:p>
        </p:txBody>
      </p:sp>
      <p:pic>
        <p:nvPicPr>
          <p:cNvPr id="8" name="Imagen 7" descr="Cómo Calcular la Varianza en Excel: Fórmulas para Varianza Muestral y ...">
            <a:extLst>
              <a:ext uri="{FF2B5EF4-FFF2-40B4-BE49-F238E27FC236}">
                <a16:creationId xmlns:a16="http://schemas.microsoft.com/office/drawing/2014/main" id="{AF7665B8-B591-289A-88DD-E86512247D7A}"/>
              </a:ext>
            </a:extLst>
          </p:cNvPr>
          <p:cNvPicPr>
            <a:picLocks noChangeAspect="1"/>
          </p:cNvPicPr>
          <p:nvPr/>
        </p:nvPicPr>
        <p:blipFill>
          <a:blip r:embed="rId3"/>
          <a:stretch>
            <a:fillRect/>
          </a:stretch>
        </p:blipFill>
        <p:spPr>
          <a:xfrm>
            <a:off x="148082" y="2458791"/>
            <a:ext cx="8067450" cy="46848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rPr dirty="0"/>
              <a:t>19. PERCENTIL.INC</a:t>
            </a:r>
          </a:p>
        </p:txBody>
      </p:sp>
      <p:sp>
        <p:nvSpPr>
          <p:cNvPr id="3" name="TextBox 2"/>
          <p:cNvSpPr txBox="1"/>
          <p:nvPr/>
        </p:nvSpPr>
        <p:spPr>
          <a:xfrm>
            <a:off x="640080" y="960120"/>
            <a:ext cx="10789920" cy="502920"/>
          </a:xfrm>
          <a:prstGeom prst="rect">
            <a:avLst/>
          </a:prstGeom>
          <a:noFill/>
        </p:spPr>
        <p:txBody>
          <a:bodyPr wrap="none">
            <a:spAutoFit/>
          </a:bodyPr>
          <a:lstStyle/>
          <a:p>
            <a:pPr>
              <a:defRPr sz="1500"/>
            </a:pPr>
            <a:r>
              <a:t>Devuelve el valor por debajo del cual se encuentra un porcentaje de los datos.</a:t>
            </a:r>
          </a:p>
        </p:txBody>
      </p:sp>
      <p:sp>
        <p:nvSpPr>
          <p:cNvPr id="4" name="TextBox 3"/>
          <p:cNvSpPr txBox="1"/>
          <p:nvPr/>
        </p:nvSpPr>
        <p:spPr>
          <a:xfrm>
            <a:off x="731520" y="1508760"/>
            <a:ext cx="6400800" cy="4480560"/>
          </a:xfrm>
          <a:prstGeom prst="rect">
            <a:avLst/>
          </a:prstGeom>
          <a:noFill/>
        </p:spPr>
        <p:txBody>
          <a:bodyPr wrap="none">
            <a:spAutoFit/>
          </a:bodyPr>
          <a:lstStyle/>
          <a:p>
            <a:pPr>
              <a:spcAft>
                <a:spcPts val="1000"/>
              </a:spcAft>
              <a:defRPr sz="1900"/>
            </a:pPr>
            <a:r>
              <a:t>PERCENTIL.INC con 0,75 permite obtener el percentil 75.</a:t>
            </a:r>
          </a:p>
          <a:p>
            <a:pPr>
              <a:spcAft>
                <a:spcPts val="1000"/>
              </a:spcAft>
              <a:defRPr sz="1900"/>
            </a:pPr>
            <a:r>
              <a:t>Es útil para identificar umbrales de ventas.</a:t>
            </a:r>
          </a:p>
        </p:txBody>
      </p:sp>
      <p:sp>
        <p:nvSpPr>
          <p:cNvPr id="5" name="TextBox 4"/>
          <p:cNvSpPr txBox="1"/>
          <p:nvPr/>
        </p:nvSpPr>
        <p:spPr>
          <a:xfrm>
            <a:off x="7406640" y="1600200"/>
            <a:ext cx="4114800" cy="2554545"/>
          </a:xfrm>
          <a:prstGeom prst="rect">
            <a:avLst/>
          </a:prstGeom>
          <a:noFill/>
        </p:spPr>
        <p:txBody>
          <a:bodyPr wrap="square">
            <a:spAutoFit/>
          </a:bodyPr>
          <a:lstStyle/>
          <a:p>
            <a:pPr>
              <a:defRPr sz="1600" b="1"/>
            </a:pPr>
            <a:r>
              <a:rPr dirty="0" err="1"/>
              <a:t>Fórmula</a:t>
            </a:r>
            <a:endParaRPr dirty="0"/>
          </a:p>
          <a:p>
            <a:r>
              <a:rPr lang="es-CL" b="1" dirty="0"/>
              <a:t>PERCENTIL.INC(</a:t>
            </a:r>
            <a:r>
              <a:rPr lang="es-CL" b="1" dirty="0" err="1"/>
              <a:t>matriz;k</a:t>
            </a:r>
            <a:r>
              <a:rPr lang="es-CL" b="1" dirty="0"/>
              <a:t>)</a:t>
            </a:r>
            <a:endParaRPr lang="es-CL" dirty="0"/>
          </a:p>
          <a:p>
            <a:r>
              <a:rPr lang="es-CL" dirty="0"/>
              <a:t>La sintaxis de la función PERCENTIL.INC tiene los siguientes argumentos:</a:t>
            </a:r>
          </a:p>
          <a:p>
            <a:pPr lvl="0"/>
            <a:r>
              <a:rPr lang="es-CL" b="1" dirty="0"/>
              <a:t>Matrices</a:t>
            </a:r>
            <a:r>
              <a:rPr lang="es-CL" dirty="0"/>
              <a:t> Obligatorio. Es la matriz o el rango de datos que define la posición relativa.</a:t>
            </a:r>
          </a:p>
          <a:p>
            <a:pPr lvl="0"/>
            <a:r>
              <a:rPr lang="es-CL" b="1" dirty="0"/>
              <a:t>K</a:t>
            </a:r>
            <a:r>
              <a:rPr lang="es-CL" dirty="0"/>
              <a:t> Obligatorio. El valor del percentil en el intervalo de 0 a 1, ambos inclusive.</a:t>
            </a:r>
          </a:p>
        </p:txBody>
      </p:sp>
      <p:sp>
        <p:nvSpPr>
          <p:cNvPr id="6" name="TextBox 5"/>
          <p:cNvSpPr txBox="1"/>
          <p:nvPr/>
        </p:nvSpPr>
        <p:spPr>
          <a:xfrm>
            <a:off x="7452360" y="4368018"/>
            <a:ext cx="4114800" cy="2194560"/>
          </a:xfrm>
          <a:prstGeom prst="rect">
            <a:avLst/>
          </a:prstGeom>
          <a:noFill/>
        </p:spPr>
        <p:txBody>
          <a:bodyPr wrap="square">
            <a:spAutoFit/>
          </a:bodyPr>
          <a:lstStyle/>
          <a:p>
            <a:pPr>
              <a:defRPr sz="1600" b="1"/>
            </a:pPr>
            <a:r>
              <a:t>Aplicación</a:t>
            </a:r>
          </a:p>
          <a:p>
            <a:pPr>
              <a:defRPr sz="1700"/>
            </a:pPr>
            <a:r>
              <a:t>Ej.: valor que deja aproximadamente al 75% de las ventas por debajo.</a:t>
            </a:r>
          </a:p>
        </p:txBody>
      </p:sp>
      <p:pic>
        <p:nvPicPr>
          <p:cNvPr id="9" name="Imagen 8" descr="Percentiles bebé OMS: Tablas y significado">
            <a:extLst>
              <a:ext uri="{FF2B5EF4-FFF2-40B4-BE49-F238E27FC236}">
                <a16:creationId xmlns:a16="http://schemas.microsoft.com/office/drawing/2014/main" id="{476DF4BC-1BDD-9CF6-9448-9ED0A2434D1B}"/>
              </a:ext>
            </a:extLst>
          </p:cNvPr>
          <p:cNvPicPr>
            <a:picLocks noChangeAspect="1"/>
          </p:cNvPicPr>
          <p:nvPr/>
        </p:nvPicPr>
        <p:blipFill>
          <a:blip r:embed="rId2"/>
          <a:stretch>
            <a:fillRect/>
          </a:stretch>
        </p:blipFill>
        <p:spPr>
          <a:xfrm>
            <a:off x="0" y="2388108"/>
            <a:ext cx="7406640" cy="48145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FE80A2B-B96B-EA70-BE26-7C23E059DE20}"/>
              </a:ext>
            </a:extLst>
          </p:cNvPr>
          <p:cNvPicPr>
            <a:picLocks noChangeAspect="1"/>
          </p:cNvPicPr>
          <p:nvPr/>
        </p:nvPicPr>
        <p:blipFill>
          <a:blip r:embed="rId2"/>
          <a:stretch>
            <a:fillRect/>
          </a:stretch>
        </p:blipFill>
        <p:spPr>
          <a:xfrm>
            <a:off x="680680" y="310258"/>
            <a:ext cx="10132156" cy="4746374"/>
          </a:xfrm>
          <a:prstGeom prst="rect">
            <a:avLst/>
          </a:prstGeom>
        </p:spPr>
      </p:pic>
      <p:sp>
        <p:nvSpPr>
          <p:cNvPr id="4" name="CuadroTexto 3">
            <a:extLst>
              <a:ext uri="{FF2B5EF4-FFF2-40B4-BE49-F238E27FC236}">
                <a16:creationId xmlns:a16="http://schemas.microsoft.com/office/drawing/2014/main" id="{F624FA01-2464-991E-8400-678B9802072C}"/>
              </a:ext>
            </a:extLst>
          </p:cNvPr>
          <p:cNvSpPr txBox="1"/>
          <p:nvPr/>
        </p:nvSpPr>
        <p:spPr>
          <a:xfrm>
            <a:off x="4206240" y="6062472"/>
            <a:ext cx="7671816" cy="369332"/>
          </a:xfrm>
          <a:prstGeom prst="rect">
            <a:avLst/>
          </a:prstGeom>
          <a:noFill/>
        </p:spPr>
        <p:txBody>
          <a:bodyPr wrap="square" rtlCol="0">
            <a:spAutoFit/>
          </a:bodyPr>
          <a:lstStyle/>
          <a:p>
            <a:r>
              <a:rPr lang="es-CL" dirty="0"/>
              <a:t>https://support.microsoft.com/es-es/excel/functions/average-function</a:t>
            </a:r>
          </a:p>
        </p:txBody>
      </p:sp>
      <p:sp>
        <p:nvSpPr>
          <p:cNvPr id="5" name="CuadroTexto 4">
            <a:extLst>
              <a:ext uri="{FF2B5EF4-FFF2-40B4-BE49-F238E27FC236}">
                <a16:creationId xmlns:a16="http://schemas.microsoft.com/office/drawing/2014/main" id="{75440F2C-F0E6-0C1D-C7F3-436C0115E77C}"/>
              </a:ext>
            </a:extLst>
          </p:cNvPr>
          <p:cNvSpPr txBox="1"/>
          <p:nvPr/>
        </p:nvSpPr>
        <p:spPr>
          <a:xfrm>
            <a:off x="1170432" y="5321808"/>
            <a:ext cx="6729984" cy="369332"/>
          </a:xfrm>
          <a:prstGeom prst="rect">
            <a:avLst/>
          </a:prstGeom>
          <a:noFill/>
        </p:spPr>
        <p:txBody>
          <a:bodyPr wrap="square" rtlCol="0">
            <a:spAutoFit/>
          </a:bodyPr>
          <a:lstStyle/>
          <a:p>
            <a:r>
              <a:rPr lang="es-CL" dirty="0"/>
              <a:t>Ejercicio N2 subido </a:t>
            </a:r>
          </a:p>
        </p:txBody>
      </p:sp>
    </p:spTree>
    <p:extLst>
      <p:ext uri="{BB962C8B-B14F-4D97-AF65-F5344CB8AC3E}">
        <p14:creationId xmlns:p14="http://schemas.microsoft.com/office/powerpoint/2010/main" val="3074515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209</TotalTime>
  <Words>1819</Words>
  <Application>Microsoft Office PowerPoint</Application>
  <PresentationFormat>Panorámica</PresentationFormat>
  <Paragraphs>388</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DIMAO</cp:lastModifiedBy>
  <cp:revision>2</cp:revision>
  <dcterms:created xsi:type="dcterms:W3CDTF">2013-01-27T09:14:16Z</dcterms:created>
  <dcterms:modified xsi:type="dcterms:W3CDTF">2026-09-02T17:14:30Z</dcterms:modified>
  <cp:category/>
</cp:coreProperties>
</file>